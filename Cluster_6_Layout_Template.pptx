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5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5BF414-89C0-476F-A330-01D3C3A565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5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BEED175-A55F-4147-B69E-A9C7F9A78BE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"/>
          <p:cNvSpPr/>
          <p:nvPr/>
        </p:nvSpPr>
        <p:spPr>
          <a:xfrm>
            <a:off x="274320" y="274320"/>
            <a:ext cx="2742120" cy="3016440"/>
          </a:xfrm>
          <a:prstGeom prst="rect">
            <a:avLst/>
          </a:prstGeom>
          <a:noFill/>
          <a:ln w="9360">
            <a:solidFill>
              <a:srgbClr val="2171b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" name="TextBox 2"/>
          <p:cNvSpPr/>
          <p:nvPr/>
        </p:nvSpPr>
        <p:spPr>
          <a:xfrm>
            <a:off x="241920" y="274320"/>
            <a:ext cx="277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171b5"/>
                </a:solidFill>
                <a:latin typeface="Calibri"/>
                <a:ea typeface="DejaVu Sans"/>
              </a:rPr>
              <a:t>Crecimiento Moderados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171b5"/>
                </a:solidFill>
                <a:latin typeface="Calibri"/>
                <a:ea typeface="DejaVu Sans"/>
              </a:rPr>
              <a:t>680,929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Box 3"/>
          <p:cNvSpPr/>
          <p:nvPr/>
        </p:nvSpPr>
        <p:spPr>
          <a:xfrm>
            <a:off x="675360" y="77112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4.68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4.00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2.350.79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9.38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0.55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11.02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 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58%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115.76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Upsell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11% (355,821)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Rounded Rectangle 6"/>
          <p:cNvSpPr/>
          <p:nvPr/>
        </p:nvSpPr>
        <p:spPr>
          <a:xfrm>
            <a:off x="3200400" y="274320"/>
            <a:ext cx="2742120" cy="3016440"/>
          </a:xfrm>
          <a:prstGeom prst="rect">
            <a:avLst/>
          </a:prstGeom>
          <a:noFill/>
          <a:ln w="9360">
            <a:solidFill>
              <a:srgbClr val="31a35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" name="TextBox 7"/>
          <p:cNvSpPr/>
          <p:nvPr/>
        </p:nvSpPr>
        <p:spPr>
          <a:xfrm>
            <a:off x="3200400" y="265320"/>
            <a:ext cx="1937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31a354"/>
                </a:solidFill>
                <a:latin typeface="Calibri"/>
                <a:ea typeface="DejaVu Sans"/>
              </a:rPr>
              <a:t>Recargas Estables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31a354"/>
                </a:solidFill>
                <a:latin typeface="Calibri"/>
                <a:ea typeface="DejaVu Sans"/>
              </a:rPr>
              <a:t>953,741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0" y="274320"/>
            <a:ext cx="2742120" cy="3016440"/>
          </a:xfrm>
          <a:prstGeom prst="rect">
            <a:avLst/>
          </a:prstGeom>
          <a:noFill/>
          <a:ln w="9360">
            <a:solidFill>
              <a:srgbClr val="ff7f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" name="TextBox 12"/>
          <p:cNvSpPr/>
          <p:nvPr/>
        </p:nvSpPr>
        <p:spPr>
          <a:xfrm>
            <a:off x="6145200" y="281880"/>
            <a:ext cx="16534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7f00"/>
                </a:solidFill>
                <a:latin typeface="Calibri"/>
                <a:ea typeface="DejaVu Sans"/>
              </a:rPr>
              <a:t>Data Digitales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7f00"/>
                </a:solidFill>
                <a:latin typeface="Calibri"/>
                <a:ea typeface="DejaVu Sans"/>
              </a:rPr>
              <a:t>459,336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Rounded Rectangle 16"/>
          <p:cNvSpPr/>
          <p:nvPr/>
        </p:nvSpPr>
        <p:spPr>
          <a:xfrm>
            <a:off x="274320" y="3474720"/>
            <a:ext cx="2742120" cy="3016440"/>
          </a:xfrm>
          <a:prstGeom prst="rect">
            <a:avLst/>
          </a:prstGeom>
          <a:noFill/>
          <a:ln w="9360">
            <a:solidFill>
              <a:srgbClr val="756bb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" name="TextBox 17"/>
          <p:cNvSpPr/>
          <p:nvPr/>
        </p:nvSpPr>
        <p:spPr>
          <a:xfrm>
            <a:off x="274320" y="3499200"/>
            <a:ext cx="17712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56bb1"/>
                </a:solidFill>
                <a:latin typeface="Calibri"/>
                <a:ea typeface="DejaVu Sans"/>
              </a:rPr>
              <a:t>Inactivos Volatil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56bb1"/>
                </a:solidFill>
                <a:latin typeface="Calibri"/>
                <a:ea typeface="DejaVu Sans"/>
              </a:rPr>
              <a:t>602,856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Rounded Rectangle 21"/>
          <p:cNvSpPr/>
          <p:nvPr/>
        </p:nvSpPr>
        <p:spPr>
          <a:xfrm>
            <a:off x="3200400" y="3474720"/>
            <a:ext cx="2742120" cy="3016440"/>
          </a:xfrm>
          <a:prstGeom prst="rect">
            <a:avLst/>
          </a:prstGeom>
          <a:noFill/>
          <a:ln w="9360">
            <a:solidFill>
              <a:srgbClr val="e41a1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" name="TextBox 22"/>
          <p:cNvSpPr/>
          <p:nvPr/>
        </p:nvSpPr>
        <p:spPr>
          <a:xfrm>
            <a:off x="3223440" y="3499200"/>
            <a:ext cx="21841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e41a1c"/>
                </a:solidFill>
                <a:latin typeface="Calibri"/>
                <a:ea typeface="DejaVu Sans"/>
              </a:rPr>
              <a:t>Voz Data Tradicional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e41a1c"/>
                </a:solidFill>
                <a:latin typeface="Calibri"/>
                <a:ea typeface="DejaVu Sans"/>
              </a:rPr>
              <a:t>897,424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Rounded Rectangle 26"/>
          <p:cNvSpPr/>
          <p:nvPr/>
        </p:nvSpPr>
        <p:spPr>
          <a:xfrm>
            <a:off x="6126480" y="3474720"/>
            <a:ext cx="2742120" cy="3016440"/>
          </a:xfrm>
          <a:prstGeom prst="rect">
            <a:avLst/>
          </a:prstGeom>
          <a:noFill/>
          <a:ln w="9360">
            <a:solidFill>
              <a:srgbClr val="17bec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" name="TextBox 27"/>
          <p:cNvSpPr/>
          <p:nvPr/>
        </p:nvSpPr>
        <p:spPr>
          <a:xfrm>
            <a:off x="6145200" y="3499200"/>
            <a:ext cx="18388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7becf"/>
                </a:solidFill>
                <a:latin typeface="Calibri"/>
                <a:ea typeface="DejaVu Sans"/>
              </a:rPr>
              <a:t>Nuevos Activos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7becf"/>
                </a:solidFill>
                <a:latin typeface="Calibri"/>
                <a:ea typeface="DejaVu Sans"/>
              </a:rPr>
              <a:t>202,574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" name="Imagen 39" descr="Tabla&#10;&#10;El contenido generado por IA puede ser incorrecto."/>
          <p:cNvPicPr/>
          <p:nvPr/>
        </p:nvPicPr>
        <p:blipFill>
          <a:blip r:embed="rId1"/>
          <a:stretch/>
        </p:blipFill>
        <p:spPr>
          <a:xfrm>
            <a:off x="1890720" y="2087640"/>
            <a:ext cx="1071000" cy="5860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21" name="Imagen 41" descr="Tabla&#10;&#10;El contenido generado por IA puede ser incorrecto."/>
          <p:cNvPicPr/>
          <p:nvPr/>
        </p:nvPicPr>
        <p:blipFill>
          <a:blip r:embed="rId2"/>
          <a:stretch/>
        </p:blipFill>
        <p:spPr>
          <a:xfrm>
            <a:off x="4818240" y="2043000"/>
            <a:ext cx="1088280" cy="60084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22" name="Imagen 43" descr="Tabla&#10;&#10;El contenido generado por IA puede ser incorrecto."/>
          <p:cNvPicPr/>
          <p:nvPr/>
        </p:nvPicPr>
        <p:blipFill>
          <a:blip r:embed="rId3"/>
          <a:stretch/>
        </p:blipFill>
        <p:spPr>
          <a:xfrm>
            <a:off x="7760160" y="2059560"/>
            <a:ext cx="1068840" cy="554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23" name="Imagen 47" descr="Tabla&#10;&#10;El contenido generado por IA puede ser incorrecto."/>
          <p:cNvPicPr/>
          <p:nvPr/>
        </p:nvPicPr>
        <p:blipFill>
          <a:blip r:embed="rId4"/>
          <a:stretch/>
        </p:blipFill>
        <p:spPr>
          <a:xfrm>
            <a:off x="4845600" y="5241600"/>
            <a:ext cx="1060920" cy="5842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24" name="Imagen 49" descr="Tabla&#10;&#10;El contenido generado por IA puede ser incorrecto."/>
          <p:cNvPicPr/>
          <p:nvPr/>
        </p:nvPicPr>
        <p:blipFill>
          <a:blip r:embed="rId5"/>
          <a:stretch/>
        </p:blipFill>
        <p:spPr>
          <a:xfrm>
            <a:off x="1947960" y="5329440"/>
            <a:ext cx="1068480" cy="584280"/>
          </a:xfrm>
          <a:prstGeom prst="rect">
            <a:avLst/>
          </a:prstGeom>
          <a:ln w="0">
            <a:noFill/>
          </a:ln>
        </p:spPr>
      </p:pic>
      <p:pic>
        <p:nvPicPr>
          <p:cNvPr id="25" name="Imagen 51" descr="Tabla&#10;&#10;El contenido generado por IA puede ser incorrecto."/>
          <p:cNvPicPr/>
          <p:nvPr/>
        </p:nvPicPr>
        <p:blipFill>
          <a:blip r:embed="rId6"/>
          <a:stretch/>
        </p:blipFill>
        <p:spPr>
          <a:xfrm>
            <a:off x="7730640" y="5303520"/>
            <a:ext cx="1096200" cy="585720"/>
          </a:xfrm>
          <a:prstGeom prst="rect">
            <a:avLst/>
          </a:prstGeom>
          <a:ln w="0">
            <a:noFill/>
          </a:ln>
        </p:spPr>
      </p:pic>
      <p:sp>
        <p:nvSpPr>
          <p:cNvPr id="26" name="TextBox 3"/>
          <p:cNvSpPr/>
          <p:nvPr/>
        </p:nvSpPr>
        <p:spPr>
          <a:xfrm>
            <a:off x="3584160" y="76932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8.18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6.99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12.918.21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12.34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0.48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6%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280.96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15% (919,085)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Box 3"/>
          <p:cNvSpPr/>
          <p:nvPr/>
        </p:nvSpPr>
        <p:spPr>
          <a:xfrm>
            <a:off x="6528600" y="75564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7.33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5.88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33,394.71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0.06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0.04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0.27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547.05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13% (441,318)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Imagen 68" descr=""/>
          <p:cNvPicPr/>
          <p:nvPr/>
        </p:nvPicPr>
        <p:blipFill>
          <a:blip r:embed="rId7"/>
          <a:stretch/>
        </p:blipFill>
        <p:spPr>
          <a:xfrm rot="16200000">
            <a:off x="-1990080" y="3013920"/>
            <a:ext cx="4248360" cy="235440"/>
          </a:xfrm>
          <a:prstGeom prst="rect">
            <a:avLst/>
          </a:prstGeom>
          <a:ln w="0">
            <a:noFill/>
          </a:ln>
        </p:spPr>
      </p:pic>
      <p:sp>
        <p:nvSpPr>
          <p:cNvPr id="29" name="TextBox 3"/>
          <p:cNvSpPr/>
          <p:nvPr/>
        </p:nvSpPr>
        <p:spPr>
          <a:xfrm>
            <a:off x="675360" y="398016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0.89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1.29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133.16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16.87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0.13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39.86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86%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28.6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5% (12,611)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Box 3"/>
          <p:cNvSpPr/>
          <p:nvPr/>
        </p:nvSpPr>
        <p:spPr>
          <a:xfrm>
            <a:off x="3663360" y="398016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17.88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15.26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2,222.30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31.50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2.18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23%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97.73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12% (703,653)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Box 3"/>
          <p:cNvSpPr/>
          <p:nvPr/>
        </p:nvSpPr>
        <p:spPr>
          <a:xfrm>
            <a:off x="6629400" y="396000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22.59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18.91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1,194.75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13.11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-0.09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3.14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53%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67.84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11% (716)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" name="" descr=""/>
          <p:cNvPicPr/>
          <p:nvPr/>
        </p:nvPicPr>
        <p:blipFill>
          <a:blip r:embed="rId8"/>
          <a:stretch/>
        </p:blipFill>
        <p:spPr>
          <a:xfrm>
            <a:off x="6207120" y="5961600"/>
            <a:ext cx="2584440" cy="4989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3" name="" descr=""/>
          <p:cNvPicPr/>
          <p:nvPr/>
        </p:nvPicPr>
        <p:blipFill>
          <a:blip r:embed="rId9"/>
          <a:stretch/>
        </p:blipFill>
        <p:spPr>
          <a:xfrm>
            <a:off x="3260520" y="5933880"/>
            <a:ext cx="2615040" cy="5191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4" name="" descr=""/>
          <p:cNvPicPr/>
          <p:nvPr/>
        </p:nvPicPr>
        <p:blipFill>
          <a:blip r:embed="rId10"/>
          <a:stretch/>
        </p:blipFill>
        <p:spPr>
          <a:xfrm>
            <a:off x="318240" y="5960880"/>
            <a:ext cx="2619360" cy="5065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5" name="" descr=""/>
          <p:cNvPicPr/>
          <p:nvPr/>
        </p:nvPicPr>
        <p:blipFill>
          <a:blip r:embed="rId11"/>
          <a:stretch/>
        </p:blipFill>
        <p:spPr>
          <a:xfrm>
            <a:off x="333000" y="2730240"/>
            <a:ext cx="2626560" cy="536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6" name="" descr=""/>
          <p:cNvPicPr/>
          <p:nvPr/>
        </p:nvPicPr>
        <p:blipFill>
          <a:blip r:embed="rId12"/>
          <a:stretch/>
        </p:blipFill>
        <p:spPr>
          <a:xfrm>
            <a:off x="3303000" y="2695680"/>
            <a:ext cx="2565360" cy="5565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7" name="" descr=""/>
          <p:cNvPicPr/>
          <p:nvPr/>
        </p:nvPicPr>
        <p:blipFill>
          <a:blip r:embed="rId13"/>
          <a:stretch/>
        </p:blipFill>
        <p:spPr>
          <a:xfrm>
            <a:off x="6214320" y="2688120"/>
            <a:ext cx="2599200" cy="5713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38" name="TextBox 4"/>
          <p:cNvSpPr/>
          <p:nvPr/>
        </p:nvSpPr>
        <p:spPr>
          <a:xfrm>
            <a:off x="251640" y="2032200"/>
            <a:ext cx="155088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1.Super Recarga de L30 1Dia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2.Super Recarga USSD L51 3Dias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3.Super Recarga USSD L107 7Dias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Box 1"/>
          <p:cNvSpPr/>
          <p:nvPr/>
        </p:nvSpPr>
        <p:spPr>
          <a:xfrm>
            <a:off x="3200400" y="2023560"/>
            <a:ext cx="152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1.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Super Recarga USSD L107 7Dias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 Super Recarga USSD L51 3Dias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3.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Super Recarga de L30 1Dia 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Box 5"/>
          <p:cNvSpPr/>
          <p:nvPr/>
        </p:nvSpPr>
        <p:spPr>
          <a:xfrm>
            <a:off x="6126480" y="1990080"/>
            <a:ext cx="155160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1.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Super Recarga USSD L107 7Dias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 Super Recarga USSD L51 3Dias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3.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Super Recarga de L30 1Dia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Box 6"/>
          <p:cNvSpPr/>
          <p:nvPr/>
        </p:nvSpPr>
        <p:spPr>
          <a:xfrm>
            <a:off x="252360" y="5248800"/>
            <a:ext cx="160056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1.Suscripcion dia WhatsApp chat ilimitado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2.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Super Recarga de L30 1Dia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3.Super Recarga USSD L51 7Dias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Box 8"/>
          <p:cNvSpPr/>
          <p:nvPr/>
        </p:nvSpPr>
        <p:spPr>
          <a:xfrm>
            <a:off x="3132720" y="5249520"/>
            <a:ext cx="157788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1.Super Recarga de L30 1Dia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2.Super Recarga USSD L51 3Dias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3.Super Recarga USSD L107 7Dias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Box 9"/>
          <p:cNvSpPr/>
          <p:nvPr/>
        </p:nvSpPr>
        <p:spPr>
          <a:xfrm>
            <a:off x="6017760" y="5263560"/>
            <a:ext cx="1586880" cy="6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1.Super Recarga de L30 1Dia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2.Super Recarga USSD L51 3Dias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3.Super Recarga USSD L107 7Dias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8"/>
          <p:cNvSpPr/>
          <p:nvPr/>
        </p:nvSpPr>
        <p:spPr>
          <a:xfrm>
            <a:off x="274320" y="274320"/>
            <a:ext cx="2742120" cy="3016440"/>
          </a:xfrm>
          <a:prstGeom prst="rect">
            <a:avLst/>
          </a:prstGeom>
          <a:noFill/>
          <a:ln w="9360">
            <a:solidFill>
              <a:srgbClr val="2171b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TextBox 32"/>
          <p:cNvSpPr/>
          <p:nvPr/>
        </p:nvSpPr>
        <p:spPr>
          <a:xfrm>
            <a:off x="241920" y="274320"/>
            <a:ext cx="277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171b5"/>
                </a:solidFill>
                <a:latin typeface="Calibri"/>
                <a:ea typeface="DejaVu Sans"/>
              </a:rPr>
              <a:t>Crecimiento Moderados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171b5"/>
                </a:solidFill>
                <a:latin typeface="Calibri"/>
                <a:ea typeface="DejaVu Sans"/>
              </a:rPr>
              <a:t>680,929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33"/>
          <p:cNvSpPr/>
          <p:nvPr/>
        </p:nvSpPr>
        <p:spPr>
          <a:xfrm>
            <a:off x="675360" y="77112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4.68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4.00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2.350.79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9.38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0.55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11.02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 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58%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115.76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Upsell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11% (355,821)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Rounded Rectangle 9"/>
          <p:cNvSpPr/>
          <p:nvPr/>
        </p:nvSpPr>
        <p:spPr>
          <a:xfrm>
            <a:off x="3200400" y="274320"/>
            <a:ext cx="2742120" cy="3016440"/>
          </a:xfrm>
          <a:prstGeom prst="rect">
            <a:avLst/>
          </a:prstGeom>
          <a:noFill/>
          <a:ln w="9360">
            <a:solidFill>
              <a:srgbClr val="31a35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TextBox 34"/>
          <p:cNvSpPr/>
          <p:nvPr/>
        </p:nvSpPr>
        <p:spPr>
          <a:xfrm>
            <a:off x="3200400" y="265320"/>
            <a:ext cx="1937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31a354"/>
                </a:solidFill>
                <a:latin typeface="Calibri"/>
                <a:ea typeface="DejaVu Sans"/>
              </a:rPr>
              <a:t>Recargas Estables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31a354"/>
                </a:solidFill>
                <a:latin typeface="Calibri"/>
                <a:ea typeface="DejaVu Sans"/>
              </a:rPr>
              <a:t>953,741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Rounded Rectangle 10"/>
          <p:cNvSpPr/>
          <p:nvPr/>
        </p:nvSpPr>
        <p:spPr>
          <a:xfrm>
            <a:off x="6126480" y="274320"/>
            <a:ext cx="2742120" cy="3016440"/>
          </a:xfrm>
          <a:prstGeom prst="rect">
            <a:avLst/>
          </a:prstGeom>
          <a:noFill/>
          <a:ln w="9360">
            <a:solidFill>
              <a:srgbClr val="ff7f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TextBox 35"/>
          <p:cNvSpPr/>
          <p:nvPr/>
        </p:nvSpPr>
        <p:spPr>
          <a:xfrm>
            <a:off x="6145200" y="281880"/>
            <a:ext cx="16534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7f00"/>
                </a:solidFill>
                <a:latin typeface="Calibri"/>
                <a:ea typeface="DejaVu Sans"/>
              </a:rPr>
              <a:t>Data Digitales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7f00"/>
                </a:solidFill>
                <a:latin typeface="Calibri"/>
                <a:ea typeface="DejaVu Sans"/>
              </a:rPr>
              <a:t>459,336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ounded Rectangle 12"/>
          <p:cNvSpPr/>
          <p:nvPr/>
        </p:nvSpPr>
        <p:spPr>
          <a:xfrm>
            <a:off x="274320" y="3474720"/>
            <a:ext cx="2742120" cy="3016440"/>
          </a:xfrm>
          <a:prstGeom prst="rect">
            <a:avLst/>
          </a:prstGeom>
          <a:noFill/>
          <a:ln w="9360">
            <a:solidFill>
              <a:srgbClr val="756bb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TextBox 36"/>
          <p:cNvSpPr/>
          <p:nvPr/>
        </p:nvSpPr>
        <p:spPr>
          <a:xfrm>
            <a:off x="274320" y="3499200"/>
            <a:ext cx="17712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56bb1"/>
                </a:solidFill>
                <a:latin typeface="Calibri"/>
                <a:ea typeface="DejaVu Sans"/>
              </a:rPr>
              <a:t>Inactivos Volatil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56bb1"/>
                </a:solidFill>
                <a:latin typeface="Calibri"/>
                <a:ea typeface="DejaVu Sans"/>
              </a:rPr>
              <a:t>602,856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Rounded Rectangle 13"/>
          <p:cNvSpPr/>
          <p:nvPr/>
        </p:nvSpPr>
        <p:spPr>
          <a:xfrm>
            <a:off x="3200400" y="3474720"/>
            <a:ext cx="2742120" cy="3016440"/>
          </a:xfrm>
          <a:prstGeom prst="rect">
            <a:avLst/>
          </a:prstGeom>
          <a:noFill/>
          <a:ln w="9360">
            <a:solidFill>
              <a:srgbClr val="e41a1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TextBox 37"/>
          <p:cNvSpPr/>
          <p:nvPr/>
        </p:nvSpPr>
        <p:spPr>
          <a:xfrm>
            <a:off x="3223440" y="3499200"/>
            <a:ext cx="21841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e41a1c"/>
                </a:solidFill>
                <a:latin typeface="Calibri"/>
                <a:ea typeface="DejaVu Sans"/>
              </a:rPr>
              <a:t>Voz Data Tradicional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e41a1c"/>
                </a:solidFill>
                <a:latin typeface="Calibri"/>
                <a:ea typeface="DejaVu Sans"/>
              </a:rPr>
              <a:t>897,424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Rounded Rectangle 14"/>
          <p:cNvSpPr/>
          <p:nvPr/>
        </p:nvSpPr>
        <p:spPr>
          <a:xfrm>
            <a:off x="6126480" y="3474720"/>
            <a:ext cx="2742120" cy="3016440"/>
          </a:xfrm>
          <a:prstGeom prst="rect">
            <a:avLst/>
          </a:prstGeom>
          <a:noFill/>
          <a:ln w="9360">
            <a:solidFill>
              <a:srgbClr val="17bec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TextBox 38"/>
          <p:cNvSpPr/>
          <p:nvPr/>
        </p:nvSpPr>
        <p:spPr>
          <a:xfrm>
            <a:off x="6145200" y="3499200"/>
            <a:ext cx="18388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7becf"/>
                </a:solidFill>
                <a:latin typeface="Calibri"/>
                <a:ea typeface="DejaVu Sans"/>
              </a:rPr>
              <a:t>Nuevos Activos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7becf"/>
                </a:solidFill>
                <a:latin typeface="Calibri"/>
                <a:ea typeface="DejaVu Sans"/>
              </a:rPr>
              <a:t>202,574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39"/>
          <p:cNvSpPr/>
          <p:nvPr/>
        </p:nvSpPr>
        <p:spPr>
          <a:xfrm>
            <a:off x="3584160" y="76932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8.18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6.99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12.918.21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12.34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0.48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6%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280.96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15% (919,085)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40"/>
          <p:cNvSpPr/>
          <p:nvPr/>
        </p:nvSpPr>
        <p:spPr>
          <a:xfrm>
            <a:off x="6528600" y="75564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7.33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5.88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33,394.71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0.06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0.04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0.27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547.05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13% (441,318)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41"/>
          <p:cNvSpPr/>
          <p:nvPr/>
        </p:nvSpPr>
        <p:spPr>
          <a:xfrm>
            <a:off x="675360" y="398016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0.89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1.29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133.16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16.87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0.13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39.86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86%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28.6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5% (12,611)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42"/>
          <p:cNvSpPr/>
          <p:nvPr/>
        </p:nvSpPr>
        <p:spPr>
          <a:xfrm>
            <a:off x="3663360" y="398016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17.88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15.26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2,222.30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31.50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0.12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2.18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23%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97.73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12% (703,653)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43"/>
          <p:cNvSpPr/>
          <p:nvPr/>
        </p:nvSpPr>
        <p:spPr>
          <a:xfrm>
            <a:off x="6629400" y="3960000"/>
            <a:ext cx="193752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Recargas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22.59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Frq Paquetes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18.91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Datos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1,194.75 mb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Proporcion de Voz a Datos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13.11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Puntuacion de Crecimiento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-0.09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Dias desde la ultima actividad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3.14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Modelo Churn –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 53%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Promedio de Llamadas min 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67.84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Microsoft YaHei"/>
              </a:rPr>
              <a:t>Modelo Upsell </a:t>
            </a:r>
            <a:r>
              <a:rPr b="0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– </a:t>
            </a:r>
            <a:r>
              <a:rPr b="1" lang="en-US" sz="800" spc="-1" strike="noStrike">
                <a:solidFill>
                  <a:schemeClr val="dk1"/>
                </a:solidFill>
                <a:latin typeface="Calibri"/>
                <a:ea typeface="DejaVu Sans"/>
              </a:rPr>
              <a:t>11% (716)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374040" y="2743200"/>
            <a:ext cx="2558160" cy="5263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3" name="" descr=""/>
          <p:cNvPicPr/>
          <p:nvPr/>
        </p:nvPicPr>
        <p:blipFill>
          <a:blip r:embed="rId2"/>
          <a:stretch/>
        </p:blipFill>
        <p:spPr>
          <a:xfrm>
            <a:off x="3306600" y="2727720"/>
            <a:ext cx="2510280" cy="5212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4" name="" descr=""/>
          <p:cNvPicPr/>
          <p:nvPr/>
        </p:nvPicPr>
        <p:blipFill>
          <a:blip r:embed="rId3"/>
          <a:stretch/>
        </p:blipFill>
        <p:spPr>
          <a:xfrm>
            <a:off x="326880" y="2202840"/>
            <a:ext cx="1605240" cy="4978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5" name="" descr=""/>
          <p:cNvPicPr/>
          <p:nvPr/>
        </p:nvPicPr>
        <p:blipFill>
          <a:blip r:embed="rId4"/>
          <a:stretch/>
        </p:blipFill>
        <p:spPr>
          <a:xfrm>
            <a:off x="1988280" y="2203560"/>
            <a:ext cx="961920" cy="4161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6" name="" descr=""/>
          <p:cNvPicPr/>
          <p:nvPr/>
        </p:nvPicPr>
        <p:blipFill>
          <a:blip r:embed="rId5"/>
          <a:stretch/>
        </p:blipFill>
        <p:spPr>
          <a:xfrm>
            <a:off x="4957920" y="2167920"/>
            <a:ext cx="943560" cy="4165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7" name="" descr=""/>
          <p:cNvPicPr/>
          <p:nvPr/>
        </p:nvPicPr>
        <p:blipFill>
          <a:blip r:embed="rId6"/>
          <a:stretch/>
        </p:blipFill>
        <p:spPr>
          <a:xfrm>
            <a:off x="3242880" y="2174760"/>
            <a:ext cx="1660680" cy="5169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8" name="" descr=""/>
          <p:cNvPicPr/>
          <p:nvPr/>
        </p:nvPicPr>
        <p:blipFill>
          <a:blip r:embed="rId7"/>
          <a:stretch/>
        </p:blipFill>
        <p:spPr>
          <a:xfrm>
            <a:off x="6204960" y="2725560"/>
            <a:ext cx="2612520" cy="5299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69" name="" descr=""/>
          <p:cNvPicPr/>
          <p:nvPr/>
        </p:nvPicPr>
        <p:blipFill>
          <a:blip r:embed="rId8"/>
          <a:stretch/>
        </p:blipFill>
        <p:spPr>
          <a:xfrm>
            <a:off x="6175440" y="2173680"/>
            <a:ext cx="1641960" cy="51120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0" name="" descr=""/>
          <p:cNvPicPr/>
          <p:nvPr/>
        </p:nvPicPr>
        <p:blipFill>
          <a:blip r:embed="rId9"/>
          <a:stretch/>
        </p:blipFill>
        <p:spPr>
          <a:xfrm>
            <a:off x="7858440" y="2187360"/>
            <a:ext cx="943560" cy="410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1" name="" descr=""/>
          <p:cNvPicPr/>
          <p:nvPr/>
        </p:nvPicPr>
        <p:blipFill>
          <a:blip r:embed="rId10"/>
          <a:stretch/>
        </p:blipFill>
        <p:spPr>
          <a:xfrm>
            <a:off x="353880" y="5896440"/>
            <a:ext cx="2578680" cy="54360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2" name="" descr=""/>
          <p:cNvPicPr/>
          <p:nvPr/>
        </p:nvPicPr>
        <p:blipFill>
          <a:blip r:embed="rId11"/>
          <a:stretch/>
        </p:blipFill>
        <p:spPr>
          <a:xfrm>
            <a:off x="308520" y="5324760"/>
            <a:ext cx="1660680" cy="5151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3" name="" descr=""/>
          <p:cNvPicPr/>
          <p:nvPr/>
        </p:nvPicPr>
        <p:blipFill>
          <a:blip r:embed="rId12"/>
          <a:stretch/>
        </p:blipFill>
        <p:spPr>
          <a:xfrm>
            <a:off x="2006280" y="5342760"/>
            <a:ext cx="970200" cy="419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4" name="" descr=""/>
          <p:cNvPicPr/>
          <p:nvPr/>
        </p:nvPicPr>
        <p:blipFill>
          <a:blip r:embed="rId13"/>
          <a:stretch/>
        </p:blipFill>
        <p:spPr>
          <a:xfrm>
            <a:off x="3279240" y="5870520"/>
            <a:ext cx="2578680" cy="5626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5" name="" descr=""/>
          <p:cNvPicPr/>
          <p:nvPr/>
        </p:nvPicPr>
        <p:blipFill>
          <a:blip r:embed="rId14"/>
          <a:stretch/>
        </p:blipFill>
        <p:spPr>
          <a:xfrm>
            <a:off x="3247920" y="5324400"/>
            <a:ext cx="1623600" cy="50184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6" name="" descr=""/>
          <p:cNvPicPr/>
          <p:nvPr/>
        </p:nvPicPr>
        <p:blipFill>
          <a:blip r:embed="rId15"/>
          <a:stretch/>
        </p:blipFill>
        <p:spPr>
          <a:xfrm>
            <a:off x="4910760" y="5315760"/>
            <a:ext cx="977400" cy="419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7" name="" descr=""/>
          <p:cNvPicPr/>
          <p:nvPr/>
        </p:nvPicPr>
        <p:blipFill>
          <a:blip r:embed="rId16"/>
          <a:stretch/>
        </p:blipFill>
        <p:spPr>
          <a:xfrm>
            <a:off x="6191280" y="5870520"/>
            <a:ext cx="2551680" cy="5626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8" name="" descr=""/>
          <p:cNvPicPr/>
          <p:nvPr/>
        </p:nvPicPr>
        <p:blipFill>
          <a:blip r:embed="rId17"/>
          <a:stretch/>
        </p:blipFill>
        <p:spPr>
          <a:xfrm>
            <a:off x="6180480" y="5336280"/>
            <a:ext cx="1609560" cy="4899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79" name="" descr=""/>
          <p:cNvPicPr/>
          <p:nvPr/>
        </p:nvPicPr>
        <p:blipFill>
          <a:blip r:embed="rId18"/>
          <a:stretch/>
        </p:blipFill>
        <p:spPr>
          <a:xfrm>
            <a:off x="7844400" y="5329080"/>
            <a:ext cx="976320" cy="419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80" name="" descr=""/>
          <p:cNvPicPr/>
          <p:nvPr/>
        </p:nvPicPr>
        <p:blipFill>
          <a:blip r:embed="rId19"/>
          <a:stretch/>
        </p:blipFill>
        <p:spPr>
          <a:xfrm rot="16190400">
            <a:off x="-2346120" y="3465720"/>
            <a:ext cx="4909320" cy="279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701</TotalTime>
  <Application>LibreOffice/24.2.2.2$Windows_X86_64 LibreOffice_project/d56cc158d8a96260b836f100ef4b4ef25d6f1a01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2026-03-02T13:38:04Z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Presentación en pantalla (4:3)</vt:lpwstr>
  </property>
  <property fmtid="{D5CDD505-2E9C-101B-9397-08002B2CF9AE}" pid="3" name="Slides">
    <vt:r8>1</vt:r8>
  </property>
</Properties>
</file>