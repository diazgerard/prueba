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1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E0528C-7214-4E20-B8AD-77F4244E41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1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8C2B3DD-739F-461B-A334-51760FD315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8"/>
          <p:cNvSpPr/>
          <p:nvPr/>
        </p:nvSpPr>
        <p:spPr>
          <a:xfrm>
            <a:off x="274320" y="116280"/>
            <a:ext cx="2741760" cy="3174120"/>
          </a:xfrm>
          <a:prstGeom prst="rect">
            <a:avLst/>
          </a:prstGeom>
          <a:noFill/>
          <a:ln w="9360">
            <a:solidFill>
              <a:srgbClr val="2171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zxx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" name="TextBox 32"/>
          <p:cNvSpPr/>
          <p:nvPr/>
        </p:nvSpPr>
        <p:spPr>
          <a:xfrm>
            <a:off x="241920" y="30600"/>
            <a:ext cx="223452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600" spc="-1" strike="noStrike">
                <a:solidFill>
                  <a:srgbClr val="2171b5"/>
                </a:solidFill>
                <a:latin typeface="Calibri"/>
                <a:ea typeface="DejaVu Sans"/>
              </a:rPr>
              <a:t>Crecimiento</a:t>
            </a:r>
            <a:r>
              <a:rPr b="1" lang="en-US" sz="1600" spc="-1" strike="noStrike">
                <a:solidFill>
                  <a:srgbClr val="2171b5"/>
                </a:solidFill>
                <a:latin typeface="Calibri"/>
                <a:ea typeface="DejaVu Sans"/>
              </a:rPr>
              <a:t> </a:t>
            </a:r>
            <a:r>
              <a:rPr b="1" lang="es-ES" sz="1600" spc="-1" strike="noStrike">
                <a:solidFill>
                  <a:srgbClr val="2171b5"/>
                </a:solidFill>
                <a:latin typeface="Calibri"/>
                <a:ea typeface="DejaVu Sans"/>
              </a:rPr>
              <a:t>Moderados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171b5"/>
                </a:solidFill>
                <a:latin typeface="Calibri"/>
                <a:ea typeface="DejaVu Sans"/>
              </a:rPr>
              <a:t>680,929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33"/>
          <p:cNvSpPr/>
          <p:nvPr/>
        </p:nvSpPr>
        <p:spPr>
          <a:xfrm>
            <a:off x="675360" y="608400"/>
            <a:ext cx="22168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4.68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4.00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PT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pt-PT" sz="800" spc="-1" strike="noStrike">
                <a:solidFill>
                  <a:schemeClr val="dk1"/>
                </a:solidFill>
                <a:latin typeface="Calibri"/>
                <a:ea typeface="DejaVu Sans"/>
              </a:rPr>
              <a:t>2.350.79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 de Voz a Datos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9.38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 de Crecimiento – </a:t>
            </a:r>
            <a:r>
              <a:rPr b="1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0.55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11.02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 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58%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115.76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Up-sell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11% (355,821)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45.32 meses; 3 años y 7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00400" y="116280"/>
            <a:ext cx="2741760" cy="3174120"/>
          </a:xfrm>
          <a:prstGeom prst="rect">
            <a:avLst/>
          </a:prstGeom>
          <a:noFill/>
          <a:ln w="9360">
            <a:solidFill>
              <a:srgbClr val="31a35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zxx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" name="TextBox 34"/>
          <p:cNvSpPr/>
          <p:nvPr/>
        </p:nvSpPr>
        <p:spPr>
          <a:xfrm>
            <a:off x="3158640" y="51120"/>
            <a:ext cx="1937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1a354"/>
                </a:solidFill>
                <a:latin typeface="Calibri"/>
                <a:ea typeface="DejaVu Sans"/>
              </a:rPr>
              <a:t>Recargas </a:t>
            </a:r>
            <a:r>
              <a:rPr b="1" lang="es-ES" sz="1600" spc="-1" strike="noStrike">
                <a:solidFill>
                  <a:srgbClr val="31a354"/>
                </a:solidFill>
                <a:latin typeface="Calibri"/>
                <a:ea typeface="DejaVu Sans"/>
              </a:rPr>
              <a:t>Estables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1a354"/>
                </a:solidFill>
                <a:latin typeface="Calibri"/>
                <a:ea typeface="DejaVu Sans"/>
              </a:rPr>
              <a:t>953,741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6126480" y="124920"/>
            <a:ext cx="2741760" cy="3165480"/>
          </a:xfrm>
          <a:prstGeom prst="rect">
            <a:avLst/>
          </a:prstGeom>
          <a:noFill/>
          <a:ln w="9360">
            <a:solidFill>
              <a:srgbClr val="ff7f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zxx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" name="TextBox 35"/>
          <p:cNvSpPr/>
          <p:nvPr/>
        </p:nvSpPr>
        <p:spPr>
          <a:xfrm>
            <a:off x="6091560" y="49680"/>
            <a:ext cx="1653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7f00"/>
                </a:solidFill>
                <a:latin typeface="Calibri"/>
                <a:ea typeface="DejaVu Sans"/>
              </a:rPr>
              <a:t>Data Digitales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7f00"/>
                </a:solidFill>
                <a:latin typeface="Calibri"/>
                <a:ea typeface="DejaVu Sans"/>
              </a:rPr>
              <a:t>459,336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274320" y="3474720"/>
            <a:ext cx="2741760" cy="3276000"/>
          </a:xfrm>
          <a:prstGeom prst="rect">
            <a:avLst/>
          </a:prstGeom>
          <a:noFill/>
          <a:ln w="9360">
            <a:solidFill>
              <a:srgbClr val="756bb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zxx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" name="TextBox 36"/>
          <p:cNvSpPr/>
          <p:nvPr/>
        </p:nvSpPr>
        <p:spPr>
          <a:xfrm>
            <a:off x="254520" y="3403080"/>
            <a:ext cx="17708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756bb1"/>
                </a:solidFill>
                <a:latin typeface="Calibri"/>
                <a:ea typeface="DejaVu Sans"/>
              </a:rPr>
              <a:t>Inactivos Volatil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756bb1"/>
                </a:solidFill>
                <a:latin typeface="Calibri"/>
                <a:ea typeface="DejaVu Sans"/>
              </a:rPr>
              <a:t>602,856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ounded Rectangle 13"/>
          <p:cNvSpPr/>
          <p:nvPr/>
        </p:nvSpPr>
        <p:spPr>
          <a:xfrm>
            <a:off x="3200400" y="3474720"/>
            <a:ext cx="2741760" cy="3264120"/>
          </a:xfrm>
          <a:prstGeom prst="rect">
            <a:avLst/>
          </a:prstGeom>
          <a:noFill/>
          <a:ln w="9360">
            <a:solidFill>
              <a:srgbClr val="e41a1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zxx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" name="TextBox 37"/>
          <p:cNvSpPr/>
          <p:nvPr/>
        </p:nvSpPr>
        <p:spPr>
          <a:xfrm>
            <a:off x="3164040" y="3403080"/>
            <a:ext cx="21837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41a1c"/>
                </a:solidFill>
                <a:latin typeface="Calibri"/>
                <a:ea typeface="DejaVu Sans"/>
              </a:rPr>
              <a:t>Voz Data Tradicional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41a1c"/>
                </a:solidFill>
                <a:latin typeface="Calibri"/>
                <a:ea typeface="DejaVu Sans"/>
              </a:rPr>
              <a:t>897,424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Rounded Rectangle 14"/>
          <p:cNvSpPr/>
          <p:nvPr/>
        </p:nvSpPr>
        <p:spPr>
          <a:xfrm>
            <a:off x="6126480" y="3474720"/>
            <a:ext cx="2741760" cy="3258000"/>
          </a:xfrm>
          <a:prstGeom prst="rect">
            <a:avLst/>
          </a:prstGeom>
          <a:noFill/>
          <a:ln w="9360">
            <a:solidFill>
              <a:srgbClr val="17bec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zxx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" name="TextBox 38"/>
          <p:cNvSpPr/>
          <p:nvPr/>
        </p:nvSpPr>
        <p:spPr>
          <a:xfrm>
            <a:off x="6091560" y="3382920"/>
            <a:ext cx="21729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7becf"/>
                </a:solidFill>
                <a:latin typeface="Calibri"/>
                <a:ea typeface="DejaVu Sans"/>
              </a:rPr>
              <a:t>Nuevos Core Activos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7becf"/>
                </a:solidFill>
                <a:latin typeface="Calibri"/>
                <a:ea typeface="DejaVu Sans"/>
              </a:rPr>
              <a:t>202,574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39"/>
          <p:cNvSpPr/>
          <p:nvPr/>
        </p:nvSpPr>
        <p:spPr>
          <a:xfrm>
            <a:off x="3584160" y="554760"/>
            <a:ext cx="20833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8.18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6.99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12.918.21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Voz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a Datos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12.34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Crecimiento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0.48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280.96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15% (919,085)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62.04 meses;  5 años y 1 mes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40"/>
          <p:cNvSpPr/>
          <p:nvPr/>
        </p:nvSpPr>
        <p:spPr>
          <a:xfrm>
            <a:off x="6528600" y="541440"/>
            <a:ext cx="224748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7.33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5.88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33,394.71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Voz a Datos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Crecimiento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0.04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0.27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5%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547.05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13% (441,318)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35.70 meses; 2 años y 12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41"/>
          <p:cNvSpPr/>
          <p:nvPr/>
        </p:nvSpPr>
        <p:spPr>
          <a:xfrm>
            <a:off x="675360" y="3927960"/>
            <a:ext cx="216900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0.89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1.29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133.16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Voz a Datos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16.87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Crecimiento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0.13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39.86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86%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28.6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5% (12,611)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40.99 meses; 3 años y 5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42"/>
          <p:cNvSpPr/>
          <p:nvPr/>
        </p:nvSpPr>
        <p:spPr>
          <a:xfrm>
            <a:off x="3663360" y="3980160"/>
            <a:ext cx="218556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17.88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15.26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2,222.30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Voz a Datos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31.50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Crecimiento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0.12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2.18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23%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97.73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12% (703,653)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60.99 mese; 5 años y 2 meses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43"/>
          <p:cNvSpPr/>
          <p:nvPr/>
        </p:nvSpPr>
        <p:spPr>
          <a:xfrm>
            <a:off x="6629400" y="3894480"/>
            <a:ext cx="193716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Recargas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22.59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Frq Paquetes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18.91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Datos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1,194.75 mb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Proporción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Voz a Datos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13.11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Puntuación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de Crecimiento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-0.09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Dias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desde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la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ultima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s-E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actividad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3.14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Modelo Churn –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53%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Promedio de Llamadas min 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67.84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Microsoft YaHei"/>
              </a:rPr>
              <a:t>Modelo Up-sell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11% (716)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Agng Dys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–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1340.38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374040" y="2743200"/>
            <a:ext cx="2564280" cy="5108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6" name="" descr=""/>
          <p:cNvPicPr/>
          <p:nvPr/>
        </p:nvPicPr>
        <p:blipFill>
          <a:blip r:embed="rId2"/>
          <a:stretch/>
        </p:blipFill>
        <p:spPr>
          <a:xfrm>
            <a:off x="3306600" y="2727720"/>
            <a:ext cx="2509920" cy="5209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7" name="" descr=""/>
          <p:cNvPicPr/>
          <p:nvPr/>
        </p:nvPicPr>
        <p:blipFill>
          <a:blip r:embed="rId3"/>
          <a:stretch/>
        </p:blipFill>
        <p:spPr>
          <a:xfrm>
            <a:off x="326880" y="2202840"/>
            <a:ext cx="1604880" cy="4975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8" name="" descr=""/>
          <p:cNvPicPr/>
          <p:nvPr/>
        </p:nvPicPr>
        <p:blipFill>
          <a:blip r:embed="rId4"/>
          <a:stretch/>
        </p:blipFill>
        <p:spPr>
          <a:xfrm>
            <a:off x="1988280" y="2203560"/>
            <a:ext cx="961560" cy="4158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29" name="" descr=""/>
          <p:cNvPicPr/>
          <p:nvPr/>
        </p:nvPicPr>
        <p:blipFill>
          <a:blip r:embed="rId5"/>
          <a:stretch/>
        </p:blipFill>
        <p:spPr>
          <a:xfrm>
            <a:off x="4957920" y="2167920"/>
            <a:ext cx="943200" cy="4161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0" name="" descr=""/>
          <p:cNvPicPr/>
          <p:nvPr/>
        </p:nvPicPr>
        <p:blipFill>
          <a:blip r:embed="rId6"/>
          <a:stretch/>
        </p:blipFill>
        <p:spPr>
          <a:xfrm>
            <a:off x="3242880" y="2174760"/>
            <a:ext cx="1660320" cy="5166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1" name="" descr=""/>
          <p:cNvPicPr/>
          <p:nvPr/>
        </p:nvPicPr>
        <p:blipFill>
          <a:blip r:embed="rId7"/>
          <a:stretch/>
        </p:blipFill>
        <p:spPr>
          <a:xfrm>
            <a:off x="6204960" y="2725560"/>
            <a:ext cx="2612160" cy="5295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2" name="" descr=""/>
          <p:cNvPicPr/>
          <p:nvPr/>
        </p:nvPicPr>
        <p:blipFill>
          <a:blip r:embed="rId8"/>
          <a:stretch/>
        </p:blipFill>
        <p:spPr>
          <a:xfrm>
            <a:off x="6175440" y="2173680"/>
            <a:ext cx="1641600" cy="5108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3" name="" descr=""/>
          <p:cNvPicPr/>
          <p:nvPr/>
        </p:nvPicPr>
        <p:blipFill>
          <a:blip r:embed="rId9"/>
          <a:stretch/>
        </p:blipFill>
        <p:spPr>
          <a:xfrm>
            <a:off x="7858440" y="2187360"/>
            <a:ext cx="943200" cy="4104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4" name="" descr=""/>
          <p:cNvPicPr/>
          <p:nvPr/>
        </p:nvPicPr>
        <p:blipFill>
          <a:blip r:embed="rId10"/>
          <a:stretch/>
        </p:blipFill>
        <p:spPr>
          <a:xfrm>
            <a:off x="353880" y="6164640"/>
            <a:ext cx="2578320" cy="5432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5" name="" descr=""/>
          <p:cNvPicPr/>
          <p:nvPr/>
        </p:nvPicPr>
        <p:blipFill>
          <a:blip r:embed="rId11"/>
          <a:stretch/>
        </p:blipFill>
        <p:spPr>
          <a:xfrm>
            <a:off x="308520" y="5616720"/>
            <a:ext cx="1660320" cy="5148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6" name="" descr=""/>
          <p:cNvPicPr/>
          <p:nvPr/>
        </p:nvPicPr>
        <p:blipFill>
          <a:blip r:embed="rId12"/>
          <a:stretch/>
        </p:blipFill>
        <p:spPr>
          <a:xfrm>
            <a:off x="2006280" y="5622480"/>
            <a:ext cx="969840" cy="4194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7" name="" descr=""/>
          <p:cNvPicPr/>
          <p:nvPr/>
        </p:nvPicPr>
        <p:blipFill>
          <a:blip r:embed="rId13"/>
          <a:stretch/>
        </p:blipFill>
        <p:spPr>
          <a:xfrm>
            <a:off x="3279240" y="6144120"/>
            <a:ext cx="2578320" cy="5623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8" name="" descr=""/>
          <p:cNvPicPr/>
          <p:nvPr/>
        </p:nvPicPr>
        <p:blipFill>
          <a:blip r:embed="rId14"/>
          <a:stretch/>
        </p:blipFill>
        <p:spPr>
          <a:xfrm>
            <a:off x="3247920" y="5609880"/>
            <a:ext cx="1623240" cy="5014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39" name="" descr=""/>
          <p:cNvPicPr/>
          <p:nvPr/>
        </p:nvPicPr>
        <p:blipFill>
          <a:blip r:embed="rId15"/>
          <a:stretch/>
        </p:blipFill>
        <p:spPr>
          <a:xfrm>
            <a:off x="4910760" y="5609880"/>
            <a:ext cx="977040" cy="4194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0" name="" descr=""/>
          <p:cNvPicPr/>
          <p:nvPr/>
        </p:nvPicPr>
        <p:blipFill>
          <a:blip r:embed="rId16"/>
          <a:stretch/>
        </p:blipFill>
        <p:spPr>
          <a:xfrm>
            <a:off x="6238800" y="6138720"/>
            <a:ext cx="2551320" cy="5623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1" name="" descr=""/>
          <p:cNvPicPr/>
          <p:nvPr/>
        </p:nvPicPr>
        <p:blipFill>
          <a:blip r:embed="rId17"/>
          <a:stretch/>
        </p:blipFill>
        <p:spPr>
          <a:xfrm>
            <a:off x="6180480" y="5566320"/>
            <a:ext cx="1609200" cy="4896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2" name="" descr=""/>
          <p:cNvPicPr/>
          <p:nvPr/>
        </p:nvPicPr>
        <p:blipFill>
          <a:blip r:embed="rId18"/>
          <a:stretch/>
        </p:blipFill>
        <p:spPr>
          <a:xfrm>
            <a:off x="7844400" y="5568120"/>
            <a:ext cx="975960" cy="4194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43" name="" descr=""/>
          <p:cNvPicPr/>
          <p:nvPr/>
        </p:nvPicPr>
        <p:blipFill>
          <a:blip r:embed="rId19"/>
          <a:stretch/>
        </p:blipFill>
        <p:spPr>
          <a:xfrm rot="16190400">
            <a:off x="-2346120" y="3465720"/>
            <a:ext cx="4908960" cy="278640"/>
          </a:xfrm>
          <a:prstGeom prst="rect">
            <a:avLst/>
          </a:prstGeom>
          <a:ln w="0">
            <a:noFill/>
          </a:ln>
        </p:spPr>
      </p:pic>
      <p:sp>
        <p:nvSpPr>
          <p:cNvPr id="44" name="TextBox 5"/>
          <p:cNvSpPr/>
          <p:nvPr/>
        </p:nvSpPr>
        <p:spPr>
          <a:xfrm>
            <a:off x="274320" y="1810440"/>
            <a:ext cx="2756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22.95%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44.33%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252360" y="1919880"/>
            <a:ext cx="2756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20.45%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 Cuarta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1.46%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3255480" y="1750680"/>
            <a:ext cx="2756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23.22%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Adulto Estable: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46.30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8"/>
          <p:cNvSpPr/>
          <p:nvPr/>
        </p:nvSpPr>
        <p:spPr>
          <a:xfrm>
            <a:off x="329400" y="5132520"/>
            <a:ext cx="264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22.64%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44.38%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9"/>
          <p:cNvSpPr/>
          <p:nvPr/>
        </p:nvSpPr>
        <p:spPr>
          <a:xfrm>
            <a:off x="3242880" y="1874880"/>
            <a:ext cx="2756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18.48%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Cuarta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1.05%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10"/>
          <p:cNvSpPr/>
          <p:nvPr/>
        </p:nvSpPr>
        <p:spPr>
          <a:xfrm>
            <a:off x="6175440" y="1749600"/>
            <a:ext cx="2756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29.77%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42.05%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1"/>
          <p:cNvSpPr/>
          <p:nvPr/>
        </p:nvSpPr>
        <p:spPr>
          <a:xfrm>
            <a:off x="6175440" y="1859040"/>
            <a:ext cx="2756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13.56%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0.87%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"/>
          <p:cNvSpPr/>
          <p:nvPr/>
        </p:nvSpPr>
        <p:spPr>
          <a:xfrm>
            <a:off x="329400" y="5234760"/>
            <a:ext cx="264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20.12%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1.63%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2"/>
          <p:cNvSpPr/>
          <p:nvPr/>
        </p:nvSpPr>
        <p:spPr>
          <a:xfrm>
            <a:off x="3297600" y="5194800"/>
            <a:ext cx="264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19.95%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Adulto Estable: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44.24%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3297600" y="5298840"/>
            <a:ext cx="264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24.57%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Cuarta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1.78%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6223680" y="5200200"/>
            <a:ext cx="264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Tercera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19.50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   Cuarta Edad: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1.34%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6223680" y="5083560"/>
            <a:ext cx="2644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Joven Adulto: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23.27%</a:t>
            </a:r>
            <a:r>
              <a:rPr b="0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     Adulto Estable: </a:t>
            </a:r>
            <a:r>
              <a:rPr b="1" lang="en-US" sz="800" spc="-1" strike="noStrike">
                <a:solidFill>
                  <a:schemeClr val="dk1"/>
                </a:solidFill>
                <a:latin typeface="Calibri"/>
                <a:ea typeface="DejaVu Sans"/>
              </a:rPr>
              <a:t>44.75%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1133</TotalTime>
  <Application>LibreOffice/24.2.2.2$Windows_X86_64 LibreOffice_project/d56cc158d8a96260b836f100ef4b4ef25d6f1a01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2026-03-04T09:21:51Z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1</vt:r8>
  </property>
</Properties>
</file>