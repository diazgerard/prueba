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33" d="100"/>
          <a:sy n="133" d="100"/>
        </p:scale>
        <p:origin x="77" y="-2050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-5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74320" y="274320"/>
            <a:ext cx="2743200" cy="3017520"/>
          </a:xfrm>
          <a:prstGeom prst="rect">
            <a:avLst/>
          </a:prstGeom>
          <a:noFill/>
          <a:ln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274320"/>
            <a:ext cx="2775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71B5"/>
                </a:solidFill>
              </a:defRPr>
            </a:pPr>
            <a:r>
              <a:rPr lang="en-US" dirty="0" err="1"/>
              <a:t>Crecimiento</a:t>
            </a:r>
            <a:r>
              <a:rPr lang="en-US" dirty="0"/>
              <a:t> </a:t>
            </a:r>
            <a:r>
              <a:rPr lang="en-US" dirty="0" err="1"/>
              <a:t>Moderados</a:t>
            </a:r>
            <a:endParaRPr lang="en-US" dirty="0"/>
          </a:p>
          <a:p>
            <a:pPr>
              <a:defRPr sz="1600" b="1">
                <a:solidFill>
                  <a:srgbClr val="2171B5"/>
                </a:solidFill>
              </a:defRPr>
            </a:pPr>
            <a:r>
              <a:rPr lang="en-US" dirty="0"/>
              <a:t>680,929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5387" y="859095"/>
            <a:ext cx="19387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Frq</a:t>
            </a:r>
            <a:r>
              <a:rPr lang="en-US" sz="800" dirty="0"/>
              <a:t> </a:t>
            </a:r>
            <a:r>
              <a:rPr lang="en-US" sz="800" dirty="0" err="1"/>
              <a:t>Recargas</a:t>
            </a:r>
            <a:r>
              <a:rPr lang="en-US" sz="800" dirty="0"/>
              <a:t> – </a:t>
            </a:r>
            <a:r>
              <a:rPr lang="en-US" sz="800" b="1" dirty="0"/>
              <a:t>4.68</a:t>
            </a:r>
          </a:p>
          <a:p>
            <a:pPr marL="171450" indent="-171450" algn="just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Frq</a:t>
            </a:r>
            <a:r>
              <a:rPr lang="en-US" sz="800" dirty="0"/>
              <a:t> </a:t>
            </a:r>
            <a:r>
              <a:rPr lang="en-US" sz="800" dirty="0" err="1"/>
              <a:t>Paquetes</a:t>
            </a:r>
            <a:r>
              <a:rPr lang="en-US" sz="800" dirty="0"/>
              <a:t> – </a:t>
            </a:r>
            <a:r>
              <a:rPr lang="en-US" sz="800" b="1" dirty="0"/>
              <a:t>4.00</a:t>
            </a:r>
          </a:p>
          <a:p>
            <a:pPr marL="171450" indent="-171450" algn="just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Promedio</a:t>
            </a:r>
            <a:r>
              <a:rPr lang="en-US" sz="800" dirty="0"/>
              <a:t> de Datos – </a:t>
            </a:r>
            <a:r>
              <a:rPr lang="en-US" sz="800" b="1" dirty="0"/>
              <a:t>2.350.79 mb</a:t>
            </a:r>
          </a:p>
          <a:p>
            <a:pPr marL="171450" indent="-171450" algn="just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Proporcion</a:t>
            </a:r>
            <a:r>
              <a:rPr lang="en-US" sz="800" dirty="0"/>
              <a:t> de Voz a Datos – </a:t>
            </a:r>
            <a:r>
              <a:rPr lang="en-US" sz="800" b="1" dirty="0"/>
              <a:t>9.38</a:t>
            </a:r>
          </a:p>
          <a:p>
            <a:pPr marL="171450" indent="-171450" algn="just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Puntuacion</a:t>
            </a:r>
            <a:r>
              <a:rPr lang="en-US" sz="800" dirty="0"/>
              <a:t> de </a:t>
            </a:r>
            <a:r>
              <a:rPr lang="en-US" sz="800" dirty="0" err="1"/>
              <a:t>Crecimiento</a:t>
            </a:r>
            <a:r>
              <a:rPr lang="en-US" sz="800" dirty="0"/>
              <a:t> – </a:t>
            </a:r>
            <a:r>
              <a:rPr lang="en-US" sz="800" b="1" dirty="0"/>
              <a:t>0.55</a:t>
            </a:r>
          </a:p>
          <a:p>
            <a:pPr marL="171450" indent="-171450" algn="just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Dias </a:t>
            </a:r>
            <a:r>
              <a:rPr lang="en-US" sz="800" dirty="0" err="1"/>
              <a:t>desde</a:t>
            </a:r>
            <a:r>
              <a:rPr lang="en-US" sz="800" dirty="0"/>
              <a:t> la ultima </a:t>
            </a:r>
            <a:r>
              <a:rPr lang="en-US" sz="800" dirty="0" err="1"/>
              <a:t>actividad</a:t>
            </a:r>
            <a:r>
              <a:rPr lang="en-US" sz="800" dirty="0"/>
              <a:t> – </a:t>
            </a:r>
            <a:r>
              <a:rPr lang="en-US" sz="800" b="1" dirty="0"/>
              <a:t>11.02</a:t>
            </a:r>
          </a:p>
          <a:p>
            <a:pPr marL="171450" indent="-171450" algn="just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Modelo Churn –  </a:t>
            </a:r>
            <a:r>
              <a:rPr lang="en-US" sz="800" b="1" dirty="0"/>
              <a:t>58%</a:t>
            </a:r>
          </a:p>
          <a:p>
            <a:pPr marL="171450" indent="-171450" algn="just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Promedio</a:t>
            </a:r>
            <a:r>
              <a:rPr lang="en-US" sz="800" dirty="0"/>
              <a:t> de </a:t>
            </a:r>
            <a:r>
              <a:rPr lang="en-US" sz="800" dirty="0" err="1"/>
              <a:t>Llamadas</a:t>
            </a:r>
            <a:r>
              <a:rPr lang="en-US" sz="800" dirty="0"/>
              <a:t> min – </a:t>
            </a:r>
            <a:r>
              <a:rPr lang="en-US" sz="800" b="1" dirty="0"/>
              <a:t>115.76</a:t>
            </a:r>
          </a:p>
          <a:p>
            <a:pPr marL="171450" indent="-171450" algn="just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Modelo</a:t>
            </a:r>
            <a:r>
              <a:rPr lang="en-US" sz="800" b="1" dirty="0"/>
              <a:t> </a:t>
            </a:r>
            <a:r>
              <a:rPr lang="en-US" sz="800" dirty="0"/>
              <a:t>Upsell</a:t>
            </a:r>
            <a:r>
              <a:rPr lang="en-US" sz="800" b="1" dirty="0"/>
              <a:t> </a:t>
            </a:r>
            <a:r>
              <a:rPr lang="en-US" sz="800" dirty="0"/>
              <a:t>–</a:t>
            </a:r>
            <a:endParaRPr lang="en-US" sz="800" b="1" dirty="0"/>
          </a:p>
        </p:txBody>
      </p:sp>
      <p:sp>
        <p:nvSpPr>
          <p:cNvPr id="7" name="Rounded Rectangle 6"/>
          <p:cNvSpPr/>
          <p:nvPr/>
        </p:nvSpPr>
        <p:spPr>
          <a:xfrm>
            <a:off x="3200400" y="274320"/>
            <a:ext cx="2743200" cy="3017520"/>
          </a:xfrm>
          <a:prstGeom prst="rect">
            <a:avLst/>
          </a:prstGeom>
          <a:noFill/>
          <a:ln>
            <a:solidFill>
              <a:srgbClr val="31A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0" y="282974"/>
            <a:ext cx="19387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1A354"/>
                </a:solidFill>
              </a:defRPr>
            </a:pPr>
            <a:r>
              <a:rPr lang="en-US" dirty="0" err="1"/>
              <a:t>Recargas</a:t>
            </a:r>
            <a:r>
              <a:rPr lang="en-US" dirty="0"/>
              <a:t> </a:t>
            </a:r>
            <a:r>
              <a:rPr lang="en-US" dirty="0" err="1"/>
              <a:t>Estables</a:t>
            </a:r>
            <a:endParaRPr lang="en-US" dirty="0"/>
          </a:p>
          <a:p>
            <a:pPr>
              <a:defRPr sz="1600" b="1">
                <a:solidFill>
                  <a:srgbClr val="31A354"/>
                </a:solidFill>
              </a:defRPr>
            </a:pPr>
            <a:r>
              <a:rPr lang="en-US" dirty="0"/>
              <a:t>953,741</a:t>
            </a:r>
            <a:endParaRPr dirty="0"/>
          </a:p>
        </p:txBody>
      </p:sp>
      <p:sp>
        <p:nvSpPr>
          <p:cNvPr id="12" name="Rounded Rectangle 11"/>
          <p:cNvSpPr/>
          <p:nvPr/>
        </p:nvSpPr>
        <p:spPr>
          <a:xfrm>
            <a:off x="6126480" y="274320"/>
            <a:ext cx="2743200" cy="3017520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5226" y="346762"/>
            <a:ext cx="16546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7F00"/>
                </a:solidFill>
              </a:defRPr>
            </a:pPr>
            <a:r>
              <a:rPr lang="en-US" dirty="0"/>
              <a:t>Data </a:t>
            </a:r>
            <a:r>
              <a:rPr lang="en-US" dirty="0" err="1"/>
              <a:t>Digitales</a:t>
            </a:r>
            <a:endParaRPr lang="en-US" dirty="0"/>
          </a:p>
          <a:p>
            <a:pPr>
              <a:defRPr sz="1600" b="1">
                <a:solidFill>
                  <a:srgbClr val="FF7F00"/>
                </a:solidFill>
              </a:defRPr>
            </a:pPr>
            <a:r>
              <a:rPr lang="en-US" dirty="0"/>
              <a:t>459,336</a:t>
            </a:r>
            <a:endParaRPr dirty="0"/>
          </a:p>
        </p:txBody>
      </p:sp>
      <p:sp>
        <p:nvSpPr>
          <p:cNvPr id="17" name="Rounded Rectangle 16"/>
          <p:cNvSpPr/>
          <p:nvPr/>
        </p:nvSpPr>
        <p:spPr>
          <a:xfrm>
            <a:off x="274320" y="3474720"/>
            <a:ext cx="2743200" cy="3017520"/>
          </a:xfrm>
          <a:prstGeom prst="rect">
            <a:avLst/>
          </a:prstGeom>
          <a:noFill/>
          <a:ln>
            <a:solidFill>
              <a:srgbClr val="756B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20" y="3499118"/>
            <a:ext cx="17724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756BB1"/>
                </a:solidFill>
              </a:defRPr>
            </a:pPr>
            <a:r>
              <a:rPr lang="en-US" dirty="0" err="1"/>
              <a:t>Inactivos</a:t>
            </a:r>
            <a:r>
              <a:rPr lang="en-US" dirty="0"/>
              <a:t> </a:t>
            </a:r>
            <a:r>
              <a:rPr lang="en-US" dirty="0" err="1"/>
              <a:t>Volatil</a:t>
            </a:r>
            <a:endParaRPr lang="en-US" dirty="0"/>
          </a:p>
          <a:p>
            <a:pPr>
              <a:defRPr sz="1600" b="1">
                <a:solidFill>
                  <a:srgbClr val="756BB1"/>
                </a:solidFill>
              </a:defRPr>
            </a:pPr>
            <a:r>
              <a:rPr lang="en-US" dirty="0"/>
              <a:t>602,856</a:t>
            </a:r>
            <a:endParaRPr dirty="0"/>
          </a:p>
        </p:txBody>
      </p:sp>
      <p:sp>
        <p:nvSpPr>
          <p:cNvPr id="22" name="Rounded Rectangle 21"/>
          <p:cNvSpPr/>
          <p:nvPr/>
        </p:nvSpPr>
        <p:spPr>
          <a:xfrm>
            <a:off x="3200400" y="3474720"/>
            <a:ext cx="2743200" cy="3017520"/>
          </a:xfrm>
          <a:prstGeom prst="rect">
            <a:avLst/>
          </a:prstGeom>
          <a:noFill/>
          <a:ln>
            <a:solidFill>
              <a:srgbClr val="E41A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23316" y="3499118"/>
            <a:ext cx="21853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41A1C"/>
                </a:solidFill>
              </a:defRPr>
            </a:pPr>
            <a:r>
              <a:rPr lang="en-US" dirty="0"/>
              <a:t>Voz Data </a:t>
            </a:r>
            <a:r>
              <a:rPr lang="en-US" dirty="0" err="1"/>
              <a:t>Tradicional</a:t>
            </a:r>
            <a:endParaRPr lang="en-US" dirty="0"/>
          </a:p>
          <a:p>
            <a:pPr>
              <a:defRPr sz="1600" b="1">
                <a:solidFill>
                  <a:srgbClr val="E41A1C"/>
                </a:solidFill>
              </a:defRPr>
            </a:pPr>
            <a:r>
              <a:rPr lang="en-US" dirty="0"/>
              <a:t>897,424</a:t>
            </a:r>
            <a:endParaRPr dirty="0"/>
          </a:p>
        </p:txBody>
      </p:sp>
      <p:sp>
        <p:nvSpPr>
          <p:cNvPr id="27" name="Rounded Rectangle 26"/>
          <p:cNvSpPr/>
          <p:nvPr/>
        </p:nvSpPr>
        <p:spPr>
          <a:xfrm>
            <a:off x="6126480" y="3474720"/>
            <a:ext cx="2743200" cy="3017520"/>
          </a:xfrm>
          <a:prstGeom prst="rect">
            <a:avLst/>
          </a:prstGeom>
          <a:noFill/>
          <a:ln>
            <a:solidFill>
              <a:srgbClr val="17BE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45226" y="3499117"/>
            <a:ext cx="18401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7BECF"/>
                </a:solidFill>
              </a:defRPr>
            </a:pPr>
            <a:r>
              <a:rPr lang="en-US" dirty="0" err="1"/>
              <a:t>Nuevos</a:t>
            </a:r>
            <a:r>
              <a:rPr lang="en-US" dirty="0"/>
              <a:t> Activos</a:t>
            </a:r>
          </a:p>
          <a:p>
            <a:pPr>
              <a:defRPr sz="1600" b="1">
                <a:solidFill>
                  <a:srgbClr val="17BECF"/>
                </a:solidFill>
              </a:defRPr>
            </a:pPr>
            <a:r>
              <a:rPr lang="en-US" dirty="0"/>
              <a:t>202,574</a:t>
            </a:r>
          </a:p>
        </p:txBody>
      </p:sp>
      <p:pic>
        <p:nvPicPr>
          <p:cNvPr id="40" name="Imagen 39" descr="Tabla&#10;&#10;El contenido generado por IA puede ser incorrecto.">
            <a:extLst>
              <a:ext uri="{FF2B5EF4-FFF2-40B4-BE49-F238E27FC236}">
                <a16:creationId xmlns:a16="http://schemas.microsoft.com/office/drawing/2014/main" id="{BB475F9E-7CC0-5E00-09E9-B6F6B4200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823" y="2143198"/>
            <a:ext cx="1072204" cy="5870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2" name="Imagen 41" descr="Tabla&#10;&#10;El contenido generado por IA puede ser incorrecto.">
            <a:extLst>
              <a:ext uri="{FF2B5EF4-FFF2-40B4-BE49-F238E27FC236}">
                <a16:creationId xmlns:a16="http://schemas.microsoft.com/office/drawing/2014/main" id="{A0C42AAE-1000-57E4-2D10-F00DC0F731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902" y="2235040"/>
            <a:ext cx="1069848" cy="59110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4" name="Imagen 43" descr="Tabla&#10;&#10;El contenido generado por IA puede ser incorrecto.">
            <a:extLst>
              <a:ext uri="{FF2B5EF4-FFF2-40B4-BE49-F238E27FC236}">
                <a16:creationId xmlns:a16="http://schemas.microsoft.com/office/drawing/2014/main" id="{2117095E-807A-6580-763B-74728C306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0252" y="2269833"/>
            <a:ext cx="1069848" cy="5559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8" name="Imagen 47" descr="Tabla&#10;&#10;El contenido generado por IA puede ser incorrecto.">
            <a:extLst>
              <a:ext uri="{FF2B5EF4-FFF2-40B4-BE49-F238E27FC236}">
                <a16:creationId xmlns:a16="http://schemas.microsoft.com/office/drawing/2014/main" id="{65C11F11-6048-7DC6-F7B9-20E2A2A81C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6289" y="5162630"/>
            <a:ext cx="1061883" cy="5852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0" name="Imagen 49" descr="Tabla&#10;&#10;El contenido generado por IA puede ser incorrecto.">
            <a:extLst>
              <a:ext uri="{FF2B5EF4-FFF2-40B4-BE49-F238E27FC236}">
                <a16:creationId xmlns:a16="http://schemas.microsoft.com/office/drawing/2014/main" id="{7423803B-5705-4130-C7DE-4B9704D8BC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0823" y="5162630"/>
            <a:ext cx="1069698" cy="585216"/>
          </a:xfrm>
          <a:prstGeom prst="rect">
            <a:avLst/>
          </a:prstGeom>
        </p:spPr>
      </p:pic>
      <p:pic>
        <p:nvPicPr>
          <p:cNvPr id="52" name="Imagen 51" descr="Tabla&#10;&#10;El contenido generado por IA puede ser incorrecto.">
            <a:extLst>
              <a:ext uri="{FF2B5EF4-FFF2-40B4-BE49-F238E27FC236}">
                <a16:creationId xmlns:a16="http://schemas.microsoft.com/office/drawing/2014/main" id="{F0B42B77-0FB9-2FC6-C2AF-C658070B5E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820" y="5161040"/>
            <a:ext cx="1097280" cy="586806"/>
          </a:xfrm>
          <a:prstGeom prst="rect">
            <a:avLst/>
          </a:prstGeom>
        </p:spPr>
      </p:pic>
      <p:sp>
        <p:nvSpPr>
          <p:cNvPr id="57" name="TextBox 3">
            <a:extLst>
              <a:ext uri="{FF2B5EF4-FFF2-40B4-BE49-F238E27FC236}">
                <a16:creationId xmlns:a16="http://schemas.microsoft.com/office/drawing/2014/main" id="{8A9904A7-280C-5F6D-4DD9-892A9FC691AC}"/>
              </a:ext>
            </a:extLst>
          </p:cNvPr>
          <p:cNvSpPr txBox="1"/>
          <p:nvPr/>
        </p:nvSpPr>
        <p:spPr>
          <a:xfrm>
            <a:off x="3584214" y="842541"/>
            <a:ext cx="1938761" cy="1215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Frq</a:t>
            </a:r>
            <a:r>
              <a:rPr lang="en-US" sz="800" dirty="0"/>
              <a:t> </a:t>
            </a:r>
            <a:r>
              <a:rPr lang="en-US" sz="800" dirty="0" err="1"/>
              <a:t>Recargas</a:t>
            </a:r>
            <a:r>
              <a:rPr lang="en-US" sz="800" dirty="0"/>
              <a:t> – </a:t>
            </a:r>
            <a:r>
              <a:rPr lang="en-US" sz="800" b="1" dirty="0"/>
              <a:t>8.18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Frq</a:t>
            </a:r>
            <a:r>
              <a:rPr lang="en-US" sz="800" dirty="0"/>
              <a:t> </a:t>
            </a:r>
            <a:r>
              <a:rPr lang="en-US" sz="800" dirty="0" err="1"/>
              <a:t>Paquetes</a:t>
            </a:r>
            <a:r>
              <a:rPr lang="en-US" sz="800" dirty="0"/>
              <a:t> –</a:t>
            </a:r>
            <a:r>
              <a:rPr lang="en-US" sz="800" b="1" dirty="0"/>
              <a:t> 6.99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Promedio</a:t>
            </a:r>
            <a:r>
              <a:rPr lang="en-US" sz="800" dirty="0"/>
              <a:t> de Datos –</a:t>
            </a:r>
            <a:r>
              <a:rPr lang="en-US" sz="800" b="1" dirty="0"/>
              <a:t> 12.918.21 mb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Proporcion</a:t>
            </a:r>
            <a:r>
              <a:rPr lang="en-US" sz="800" dirty="0"/>
              <a:t> de Voz a Datos – </a:t>
            </a:r>
            <a:r>
              <a:rPr lang="en-US" sz="800" b="1" dirty="0"/>
              <a:t>12.34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Puntuacion</a:t>
            </a:r>
            <a:r>
              <a:rPr lang="en-US" sz="800" dirty="0"/>
              <a:t> de </a:t>
            </a:r>
            <a:r>
              <a:rPr lang="en-US" sz="800" dirty="0" err="1"/>
              <a:t>Crecimiento</a:t>
            </a:r>
            <a:r>
              <a:rPr lang="en-US" sz="800" dirty="0"/>
              <a:t> – </a:t>
            </a:r>
            <a:r>
              <a:rPr lang="en-US" sz="800" b="1" dirty="0"/>
              <a:t>0.05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Dias </a:t>
            </a:r>
            <a:r>
              <a:rPr lang="en-US" sz="800" dirty="0" err="1"/>
              <a:t>desde</a:t>
            </a:r>
            <a:r>
              <a:rPr lang="en-US" sz="800" dirty="0"/>
              <a:t> la ultima </a:t>
            </a:r>
            <a:r>
              <a:rPr lang="en-US" sz="800" dirty="0" err="1"/>
              <a:t>actividad</a:t>
            </a:r>
            <a:r>
              <a:rPr lang="en-US" sz="800" dirty="0"/>
              <a:t> – </a:t>
            </a:r>
            <a:r>
              <a:rPr lang="en-US" sz="800" b="1" dirty="0"/>
              <a:t>0.48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Modelo Churn – </a:t>
            </a:r>
            <a:r>
              <a:rPr lang="en-US" sz="800" b="1" dirty="0"/>
              <a:t>6% 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Promedio</a:t>
            </a:r>
            <a:r>
              <a:rPr lang="en-US" sz="800" dirty="0"/>
              <a:t> de </a:t>
            </a:r>
            <a:r>
              <a:rPr lang="en-US" sz="800" dirty="0" err="1"/>
              <a:t>Llamadas</a:t>
            </a:r>
            <a:r>
              <a:rPr lang="en-US" sz="800" dirty="0"/>
              <a:t> min – </a:t>
            </a:r>
            <a:r>
              <a:rPr lang="en-US" sz="800" b="1" dirty="0"/>
              <a:t>280.96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Modelo Upsell </a:t>
            </a:r>
            <a:r>
              <a:rPr lang="en-US" sz="900" dirty="0"/>
              <a:t>–</a:t>
            </a:r>
            <a:endParaRPr lang="en-US" sz="800" b="1" dirty="0"/>
          </a:p>
        </p:txBody>
      </p:sp>
      <p:sp>
        <p:nvSpPr>
          <p:cNvPr id="58" name="TextBox 3">
            <a:extLst>
              <a:ext uri="{FF2B5EF4-FFF2-40B4-BE49-F238E27FC236}">
                <a16:creationId xmlns:a16="http://schemas.microsoft.com/office/drawing/2014/main" id="{678D4F18-B33D-652E-FB3C-85ABD6C6ECE0}"/>
              </a:ext>
            </a:extLst>
          </p:cNvPr>
          <p:cNvSpPr txBox="1"/>
          <p:nvPr/>
        </p:nvSpPr>
        <p:spPr>
          <a:xfrm>
            <a:off x="6528699" y="859095"/>
            <a:ext cx="1938761" cy="1215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Frq</a:t>
            </a:r>
            <a:r>
              <a:rPr lang="en-US" sz="800" dirty="0"/>
              <a:t> </a:t>
            </a:r>
            <a:r>
              <a:rPr lang="en-US" sz="800" dirty="0" err="1"/>
              <a:t>Recargas</a:t>
            </a:r>
            <a:r>
              <a:rPr lang="en-US" sz="800" dirty="0"/>
              <a:t> – </a:t>
            </a:r>
            <a:r>
              <a:rPr lang="en-US" sz="800" b="1" dirty="0"/>
              <a:t>7.33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Frq</a:t>
            </a:r>
            <a:r>
              <a:rPr lang="en-US" sz="800" dirty="0"/>
              <a:t> </a:t>
            </a:r>
            <a:r>
              <a:rPr lang="en-US" sz="800" dirty="0" err="1"/>
              <a:t>Paquetes</a:t>
            </a:r>
            <a:r>
              <a:rPr lang="en-US" sz="800" dirty="0"/>
              <a:t> –</a:t>
            </a:r>
            <a:r>
              <a:rPr lang="en-US" sz="800" b="1" dirty="0"/>
              <a:t> 5.88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Promedio</a:t>
            </a:r>
            <a:r>
              <a:rPr lang="en-US" sz="800" dirty="0"/>
              <a:t> de Datos – </a:t>
            </a:r>
            <a:r>
              <a:rPr lang="en-US" sz="800" b="1" dirty="0"/>
              <a:t>33,394.71 mb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Proporcion</a:t>
            </a:r>
            <a:r>
              <a:rPr lang="en-US" sz="800" dirty="0"/>
              <a:t> de Voz a Datos –</a:t>
            </a:r>
            <a:r>
              <a:rPr lang="en-US" sz="800" b="1" dirty="0"/>
              <a:t> 0.06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Puntuacion</a:t>
            </a:r>
            <a:r>
              <a:rPr lang="en-US" sz="800" dirty="0"/>
              <a:t> de </a:t>
            </a:r>
            <a:r>
              <a:rPr lang="en-US" sz="800" dirty="0" err="1"/>
              <a:t>Crecimiento</a:t>
            </a:r>
            <a:r>
              <a:rPr lang="en-US" sz="800" dirty="0"/>
              <a:t> –</a:t>
            </a:r>
            <a:r>
              <a:rPr lang="en-US" sz="800" b="1" dirty="0"/>
              <a:t> 0.04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Dias </a:t>
            </a:r>
            <a:r>
              <a:rPr lang="en-US" sz="800" dirty="0" err="1"/>
              <a:t>desde</a:t>
            </a:r>
            <a:r>
              <a:rPr lang="en-US" sz="800" dirty="0"/>
              <a:t> la ultima </a:t>
            </a:r>
            <a:r>
              <a:rPr lang="en-US" sz="800" dirty="0" err="1"/>
              <a:t>actividad</a:t>
            </a:r>
            <a:r>
              <a:rPr lang="en-US" sz="800" dirty="0"/>
              <a:t> –</a:t>
            </a:r>
            <a:r>
              <a:rPr lang="en-US" sz="800" b="1" dirty="0"/>
              <a:t> 0.27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Modelo Churn –</a:t>
            </a:r>
            <a:r>
              <a:rPr lang="en-US" sz="800" b="1" dirty="0"/>
              <a:t> 5% 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Promedio</a:t>
            </a:r>
            <a:r>
              <a:rPr lang="en-US" sz="800" dirty="0"/>
              <a:t> de </a:t>
            </a:r>
            <a:r>
              <a:rPr lang="en-US" sz="800" dirty="0" err="1"/>
              <a:t>Llamadas</a:t>
            </a:r>
            <a:r>
              <a:rPr lang="en-US" sz="800" dirty="0"/>
              <a:t> min – </a:t>
            </a:r>
            <a:r>
              <a:rPr lang="en-US" sz="800" b="1" dirty="0"/>
              <a:t>547.05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Modelo Upsell </a:t>
            </a:r>
            <a:r>
              <a:rPr lang="en-US" sz="900" dirty="0"/>
              <a:t>–</a:t>
            </a:r>
            <a:endParaRPr lang="en-US" sz="800" b="1" dirty="0"/>
          </a:p>
        </p:txBody>
      </p:sp>
      <p:pic>
        <p:nvPicPr>
          <p:cNvPr id="67" name="Imagen 66" descr="Gráfico, Gráfico de rectángulos&#10;&#10;El contenido generado por IA puede ser incorrecto.">
            <a:extLst>
              <a:ext uri="{FF2B5EF4-FFF2-40B4-BE49-F238E27FC236}">
                <a16:creationId xmlns:a16="http://schemas.microsoft.com/office/drawing/2014/main" id="{50728E9A-F795-B664-8B65-384727A1BB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8842" y="2811718"/>
            <a:ext cx="2486649" cy="4160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9" name="Imagen 68">
            <a:extLst>
              <a:ext uri="{FF2B5EF4-FFF2-40B4-BE49-F238E27FC236}">
                <a16:creationId xmlns:a16="http://schemas.microsoft.com/office/drawing/2014/main" id="{93C0A9C7-61BF-C511-0BD8-05A988E505C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6200000">
            <a:off x="-1991023" y="3012909"/>
            <a:ext cx="4249480" cy="236493"/>
          </a:xfrm>
          <a:prstGeom prst="rect">
            <a:avLst/>
          </a:prstGeom>
        </p:spPr>
      </p:pic>
      <p:sp>
        <p:nvSpPr>
          <p:cNvPr id="70" name="TextBox 3">
            <a:extLst>
              <a:ext uri="{FF2B5EF4-FFF2-40B4-BE49-F238E27FC236}">
                <a16:creationId xmlns:a16="http://schemas.microsoft.com/office/drawing/2014/main" id="{90379690-3F66-8A5D-6D13-053BC78F8872}"/>
              </a:ext>
            </a:extLst>
          </p:cNvPr>
          <p:cNvSpPr txBox="1"/>
          <p:nvPr/>
        </p:nvSpPr>
        <p:spPr>
          <a:xfrm>
            <a:off x="675386" y="3980105"/>
            <a:ext cx="1938761" cy="1215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Frq</a:t>
            </a:r>
            <a:r>
              <a:rPr lang="en-US" sz="800" dirty="0"/>
              <a:t> </a:t>
            </a:r>
            <a:r>
              <a:rPr lang="en-US" sz="800" dirty="0" err="1"/>
              <a:t>Recargas</a:t>
            </a:r>
            <a:r>
              <a:rPr lang="en-US" sz="800" dirty="0"/>
              <a:t> – </a:t>
            </a:r>
            <a:r>
              <a:rPr lang="en-US" sz="800" b="1" dirty="0"/>
              <a:t>0.89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Frq</a:t>
            </a:r>
            <a:r>
              <a:rPr lang="en-US" sz="800" dirty="0"/>
              <a:t> </a:t>
            </a:r>
            <a:r>
              <a:rPr lang="en-US" sz="800" dirty="0" err="1"/>
              <a:t>Paquetes</a:t>
            </a:r>
            <a:r>
              <a:rPr lang="en-US" sz="800" dirty="0"/>
              <a:t> –</a:t>
            </a:r>
            <a:r>
              <a:rPr lang="en-US" sz="800" b="1" dirty="0"/>
              <a:t> 1.29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Promedio</a:t>
            </a:r>
            <a:r>
              <a:rPr lang="en-US" sz="800" dirty="0"/>
              <a:t> de Datos – </a:t>
            </a:r>
            <a:r>
              <a:rPr lang="en-US" sz="800" b="1" dirty="0"/>
              <a:t>133.16 mb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Proporcion</a:t>
            </a:r>
            <a:r>
              <a:rPr lang="en-US" sz="800" dirty="0"/>
              <a:t> de Voz a Datos –</a:t>
            </a:r>
            <a:r>
              <a:rPr lang="en-US" sz="800" b="1" dirty="0"/>
              <a:t> 16.87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Puntuacion</a:t>
            </a:r>
            <a:r>
              <a:rPr lang="en-US" sz="800" dirty="0"/>
              <a:t> de </a:t>
            </a:r>
            <a:r>
              <a:rPr lang="en-US" sz="800" dirty="0" err="1"/>
              <a:t>Crecimiento</a:t>
            </a:r>
            <a:r>
              <a:rPr lang="en-US" sz="800" dirty="0"/>
              <a:t> –</a:t>
            </a:r>
            <a:r>
              <a:rPr lang="en-US" sz="800" b="1" dirty="0"/>
              <a:t> 0.13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Dias </a:t>
            </a:r>
            <a:r>
              <a:rPr lang="en-US" sz="800" dirty="0" err="1"/>
              <a:t>desde</a:t>
            </a:r>
            <a:r>
              <a:rPr lang="en-US" sz="800" dirty="0"/>
              <a:t> la ultima </a:t>
            </a:r>
            <a:r>
              <a:rPr lang="en-US" sz="800" dirty="0" err="1"/>
              <a:t>actividad</a:t>
            </a:r>
            <a:r>
              <a:rPr lang="en-US" sz="800" dirty="0"/>
              <a:t> –</a:t>
            </a:r>
            <a:r>
              <a:rPr lang="en-US" sz="800" b="1" dirty="0"/>
              <a:t> 39.86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Modelo Churn –</a:t>
            </a:r>
            <a:r>
              <a:rPr lang="en-US" sz="800" b="1" dirty="0"/>
              <a:t> 86% 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Promedio</a:t>
            </a:r>
            <a:r>
              <a:rPr lang="en-US" sz="800" dirty="0"/>
              <a:t> de </a:t>
            </a:r>
            <a:r>
              <a:rPr lang="en-US" sz="800" dirty="0" err="1"/>
              <a:t>Llamadas</a:t>
            </a:r>
            <a:r>
              <a:rPr lang="en-US" sz="800" dirty="0"/>
              <a:t> min – </a:t>
            </a:r>
            <a:r>
              <a:rPr lang="en-US" sz="800" b="1" dirty="0"/>
              <a:t>28.6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Modelo Upsell </a:t>
            </a:r>
            <a:r>
              <a:rPr lang="en-US" sz="900" dirty="0"/>
              <a:t>–</a:t>
            </a:r>
            <a:endParaRPr lang="en-US" sz="800" b="1" dirty="0"/>
          </a:p>
        </p:txBody>
      </p:sp>
      <p:sp>
        <p:nvSpPr>
          <p:cNvPr id="71" name="TextBox 3">
            <a:extLst>
              <a:ext uri="{FF2B5EF4-FFF2-40B4-BE49-F238E27FC236}">
                <a16:creationId xmlns:a16="http://schemas.microsoft.com/office/drawing/2014/main" id="{6DB9E634-A9FA-10DD-2F68-91229411D4C5}"/>
              </a:ext>
            </a:extLst>
          </p:cNvPr>
          <p:cNvSpPr txBox="1"/>
          <p:nvPr/>
        </p:nvSpPr>
        <p:spPr>
          <a:xfrm>
            <a:off x="3663267" y="3980104"/>
            <a:ext cx="1938761" cy="1215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Frq</a:t>
            </a:r>
            <a:r>
              <a:rPr lang="en-US" sz="800" dirty="0"/>
              <a:t> </a:t>
            </a:r>
            <a:r>
              <a:rPr lang="en-US" sz="800" dirty="0" err="1"/>
              <a:t>Recargas</a:t>
            </a:r>
            <a:r>
              <a:rPr lang="en-US" sz="800" dirty="0"/>
              <a:t> – </a:t>
            </a:r>
            <a:r>
              <a:rPr lang="en-US" sz="800" b="1" dirty="0"/>
              <a:t>17.88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Frq</a:t>
            </a:r>
            <a:r>
              <a:rPr lang="en-US" sz="800" dirty="0"/>
              <a:t> </a:t>
            </a:r>
            <a:r>
              <a:rPr lang="en-US" sz="800" dirty="0" err="1"/>
              <a:t>Paquetes</a:t>
            </a:r>
            <a:r>
              <a:rPr lang="en-US" sz="800" dirty="0"/>
              <a:t> –</a:t>
            </a:r>
            <a:r>
              <a:rPr lang="en-US" sz="800" b="1" dirty="0"/>
              <a:t> 15.26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Promedio</a:t>
            </a:r>
            <a:r>
              <a:rPr lang="en-US" sz="800" dirty="0"/>
              <a:t> de Datos – </a:t>
            </a:r>
            <a:r>
              <a:rPr lang="en-US" sz="800" b="1" dirty="0"/>
              <a:t>2,222.30 mb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Proporcion</a:t>
            </a:r>
            <a:r>
              <a:rPr lang="en-US" sz="800" dirty="0"/>
              <a:t> de Voz a Datos –</a:t>
            </a:r>
            <a:r>
              <a:rPr lang="en-US" sz="800" b="1" dirty="0"/>
              <a:t> 31.50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Puntuacion</a:t>
            </a:r>
            <a:r>
              <a:rPr lang="en-US" sz="800" dirty="0"/>
              <a:t> de </a:t>
            </a:r>
            <a:r>
              <a:rPr lang="en-US" sz="800" dirty="0" err="1"/>
              <a:t>Crecimiento</a:t>
            </a:r>
            <a:r>
              <a:rPr lang="en-US" sz="800" dirty="0"/>
              <a:t> –</a:t>
            </a:r>
            <a:r>
              <a:rPr lang="en-US" sz="800" b="1" dirty="0"/>
              <a:t> 0.12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Dias </a:t>
            </a:r>
            <a:r>
              <a:rPr lang="en-US" sz="800" dirty="0" err="1"/>
              <a:t>desde</a:t>
            </a:r>
            <a:r>
              <a:rPr lang="en-US" sz="800" dirty="0"/>
              <a:t> la ultima </a:t>
            </a:r>
            <a:r>
              <a:rPr lang="en-US" sz="800" dirty="0" err="1"/>
              <a:t>actividad</a:t>
            </a:r>
            <a:r>
              <a:rPr lang="en-US" sz="800" dirty="0"/>
              <a:t> –</a:t>
            </a:r>
            <a:r>
              <a:rPr lang="en-US" sz="800" b="1" dirty="0"/>
              <a:t> 2.18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Modelo Churn –</a:t>
            </a:r>
            <a:r>
              <a:rPr lang="en-US" sz="800" b="1" dirty="0"/>
              <a:t> 23% 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Promedio</a:t>
            </a:r>
            <a:r>
              <a:rPr lang="en-US" sz="800" dirty="0"/>
              <a:t> de </a:t>
            </a:r>
            <a:r>
              <a:rPr lang="en-US" sz="800" dirty="0" err="1"/>
              <a:t>Llamadas</a:t>
            </a:r>
            <a:r>
              <a:rPr lang="en-US" sz="800" dirty="0"/>
              <a:t> min – </a:t>
            </a:r>
            <a:r>
              <a:rPr lang="en-US" sz="800" b="1" dirty="0"/>
              <a:t>97.73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Modelo Upsell </a:t>
            </a:r>
            <a:r>
              <a:rPr lang="en-US" sz="900" dirty="0"/>
              <a:t>–</a:t>
            </a:r>
            <a:endParaRPr lang="en-US" sz="800" b="1" dirty="0"/>
          </a:p>
        </p:txBody>
      </p:sp>
      <p:sp>
        <p:nvSpPr>
          <p:cNvPr id="72" name="TextBox 3">
            <a:extLst>
              <a:ext uri="{FF2B5EF4-FFF2-40B4-BE49-F238E27FC236}">
                <a16:creationId xmlns:a16="http://schemas.microsoft.com/office/drawing/2014/main" id="{F8BAEA6E-9D4F-D3EE-C089-0CE0DDF49620}"/>
              </a:ext>
            </a:extLst>
          </p:cNvPr>
          <p:cNvSpPr txBox="1"/>
          <p:nvPr/>
        </p:nvSpPr>
        <p:spPr>
          <a:xfrm>
            <a:off x="6629341" y="3960012"/>
            <a:ext cx="1938761" cy="1215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Frq</a:t>
            </a:r>
            <a:r>
              <a:rPr lang="en-US" sz="800" dirty="0"/>
              <a:t> </a:t>
            </a:r>
            <a:r>
              <a:rPr lang="en-US" sz="800" dirty="0" err="1"/>
              <a:t>Recargas</a:t>
            </a:r>
            <a:r>
              <a:rPr lang="en-US" sz="800" dirty="0"/>
              <a:t> – </a:t>
            </a:r>
            <a:r>
              <a:rPr lang="en-US" sz="800" b="1" dirty="0"/>
              <a:t>22.59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Frq</a:t>
            </a:r>
            <a:r>
              <a:rPr lang="en-US" sz="800" dirty="0"/>
              <a:t> </a:t>
            </a:r>
            <a:r>
              <a:rPr lang="en-US" sz="800" dirty="0" err="1"/>
              <a:t>Paquetes</a:t>
            </a:r>
            <a:r>
              <a:rPr lang="en-US" sz="800" dirty="0"/>
              <a:t> –</a:t>
            </a:r>
            <a:r>
              <a:rPr lang="en-US" sz="800" b="1" dirty="0"/>
              <a:t> 18.91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Promedio</a:t>
            </a:r>
            <a:r>
              <a:rPr lang="en-US" sz="800" dirty="0"/>
              <a:t> de Datos – </a:t>
            </a:r>
            <a:r>
              <a:rPr lang="en-US" sz="800" b="1" dirty="0"/>
              <a:t>1,194.75 mb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Proporcion</a:t>
            </a:r>
            <a:r>
              <a:rPr lang="en-US" sz="800" dirty="0"/>
              <a:t> de Voz a Datos –</a:t>
            </a:r>
            <a:r>
              <a:rPr lang="en-US" sz="800" b="1" dirty="0"/>
              <a:t> 13.11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Puntuacion</a:t>
            </a:r>
            <a:r>
              <a:rPr lang="en-US" sz="800" dirty="0"/>
              <a:t> de </a:t>
            </a:r>
            <a:r>
              <a:rPr lang="en-US" sz="800" dirty="0" err="1"/>
              <a:t>Crecimiento</a:t>
            </a:r>
            <a:r>
              <a:rPr lang="en-US" sz="800" dirty="0"/>
              <a:t> –</a:t>
            </a:r>
            <a:r>
              <a:rPr lang="en-US" sz="800" b="1" dirty="0"/>
              <a:t> -0.09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Dias </a:t>
            </a:r>
            <a:r>
              <a:rPr lang="en-US" sz="800" dirty="0" err="1"/>
              <a:t>desde</a:t>
            </a:r>
            <a:r>
              <a:rPr lang="en-US" sz="800" dirty="0"/>
              <a:t> la ultima </a:t>
            </a:r>
            <a:r>
              <a:rPr lang="en-US" sz="800" dirty="0" err="1"/>
              <a:t>actividad</a:t>
            </a:r>
            <a:r>
              <a:rPr lang="en-US" sz="800" dirty="0"/>
              <a:t> –</a:t>
            </a:r>
            <a:r>
              <a:rPr lang="en-US" sz="800" b="1" dirty="0"/>
              <a:t> 3.14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Modelo Churn –</a:t>
            </a:r>
            <a:r>
              <a:rPr lang="en-US" sz="800" b="1" dirty="0"/>
              <a:t> 53% </a:t>
            </a:r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 err="1"/>
              <a:t>Promedio</a:t>
            </a:r>
            <a:r>
              <a:rPr lang="en-US" sz="800" dirty="0"/>
              <a:t> de </a:t>
            </a:r>
            <a:r>
              <a:rPr lang="en-US" sz="800" dirty="0" err="1"/>
              <a:t>Llamadas</a:t>
            </a:r>
            <a:r>
              <a:rPr lang="en-US" sz="800" dirty="0"/>
              <a:t> min </a:t>
            </a:r>
            <a:r>
              <a:rPr lang="en-US" sz="800"/>
              <a:t>– </a:t>
            </a:r>
            <a:r>
              <a:rPr lang="en-US" sz="800" b="1"/>
              <a:t>67.84</a:t>
            </a:r>
            <a:endParaRPr lang="en-US" sz="800" b="1" dirty="0"/>
          </a:p>
          <a:p>
            <a:pPr marL="171450" indent="-171450">
              <a:buFont typeface="Arial" panose="020B0604020202020204" pitchFamily="34" charset="0"/>
              <a:buChar char="•"/>
              <a:defRPr sz="900"/>
            </a:pPr>
            <a:r>
              <a:rPr lang="en-US" sz="800" dirty="0"/>
              <a:t>Modelo Upsell </a:t>
            </a:r>
            <a:r>
              <a:rPr lang="en-US" sz="900" dirty="0"/>
              <a:t>–</a:t>
            </a:r>
            <a:endParaRPr lang="en-US" sz="8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302</Words>
  <Application>Microsoft Office PowerPoint</Application>
  <PresentationFormat>Presentación en pantalla (4:3)</PresentationFormat>
  <Paragraphs>66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gerardourraco234@gmail.com</cp:lastModifiedBy>
  <cp:revision>2</cp:revision>
  <dcterms:created xsi:type="dcterms:W3CDTF">2013-01-27T09:14:16Z</dcterms:created>
  <dcterms:modified xsi:type="dcterms:W3CDTF">2026-02-26T05:20:24Z</dcterms:modified>
  <cp:category/>
</cp:coreProperties>
</file>