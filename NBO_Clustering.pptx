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78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A54C1C-93BB-4AB4-A568-91DFA69BD4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78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D41E5FC-7391-48D8-B632-A7C8AD45F9C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8"/>
          <p:cNvSpPr/>
          <p:nvPr/>
        </p:nvSpPr>
        <p:spPr>
          <a:xfrm>
            <a:off x="274320" y="116280"/>
            <a:ext cx="2741400" cy="3173760"/>
          </a:xfrm>
          <a:prstGeom prst="rect">
            <a:avLst/>
          </a:prstGeom>
          <a:noFill/>
          <a:ln w="9360">
            <a:solidFill>
              <a:srgbClr val="2171b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" name="TextBox 32"/>
          <p:cNvSpPr/>
          <p:nvPr/>
        </p:nvSpPr>
        <p:spPr>
          <a:xfrm>
            <a:off x="241920" y="30600"/>
            <a:ext cx="22341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ES" sz="1600" spc="-1" strike="noStrike">
                <a:solidFill>
                  <a:srgbClr val="2171b5"/>
                </a:solidFill>
                <a:latin typeface="Calibri"/>
                <a:ea typeface="DejaVu Sans"/>
              </a:rPr>
              <a:t>Crecimiento Moderados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s-ES" sz="1600" spc="-1" strike="noStrike">
                <a:solidFill>
                  <a:srgbClr val="2171b5"/>
                </a:solidFill>
                <a:latin typeface="Calibri"/>
                <a:ea typeface="DejaVu Sans"/>
              </a:rPr>
              <a:t>680,929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33"/>
          <p:cNvSpPr/>
          <p:nvPr/>
        </p:nvSpPr>
        <p:spPr>
          <a:xfrm>
            <a:off x="675360" y="608400"/>
            <a:ext cx="221652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ARPU mes 3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21.42 L.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Recargas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4.68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Paquetes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4.00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Datos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2,350.79 MB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Proporción de Voz a Datos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9.38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Puntuación de Crecimiento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0.55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Dias desde la ultima actividad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11.02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Modelo Churn – 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58%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Llamadas min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115.76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Modelo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Up-sell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11% (355,821)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Agng Dys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45.32 meses; 3 años y 7 meses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Rounded Rectangle 9"/>
          <p:cNvSpPr/>
          <p:nvPr/>
        </p:nvSpPr>
        <p:spPr>
          <a:xfrm>
            <a:off x="3200400" y="116280"/>
            <a:ext cx="2741400" cy="3173760"/>
          </a:xfrm>
          <a:prstGeom prst="rect">
            <a:avLst/>
          </a:prstGeom>
          <a:noFill/>
          <a:ln w="9360">
            <a:solidFill>
              <a:srgbClr val="31a3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" name="TextBox 34"/>
          <p:cNvSpPr/>
          <p:nvPr/>
        </p:nvSpPr>
        <p:spPr>
          <a:xfrm>
            <a:off x="3158640" y="51120"/>
            <a:ext cx="19368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ES" sz="1600" spc="-1" strike="noStrike">
                <a:solidFill>
                  <a:srgbClr val="31a354"/>
                </a:solidFill>
                <a:latin typeface="Calibri"/>
                <a:ea typeface="DejaVu Sans"/>
              </a:rPr>
              <a:t>Recargas Estables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s-ES" sz="1600" spc="-1" strike="noStrike">
                <a:solidFill>
                  <a:srgbClr val="31a354"/>
                </a:solidFill>
                <a:latin typeface="Calibri"/>
                <a:ea typeface="DejaVu Sans"/>
              </a:rPr>
              <a:t>953,741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26480" y="124920"/>
            <a:ext cx="2741400" cy="3165120"/>
          </a:xfrm>
          <a:prstGeom prst="rect">
            <a:avLst/>
          </a:prstGeom>
          <a:noFill/>
          <a:ln w="9360">
            <a:solidFill>
              <a:srgbClr val="ff7f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" name="TextBox 35"/>
          <p:cNvSpPr/>
          <p:nvPr/>
        </p:nvSpPr>
        <p:spPr>
          <a:xfrm>
            <a:off x="6091560" y="49680"/>
            <a:ext cx="16527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ES" sz="1600" spc="-1" strike="noStrike">
                <a:solidFill>
                  <a:srgbClr val="ff7f00"/>
                </a:solidFill>
                <a:latin typeface="Calibri"/>
                <a:ea typeface="DejaVu Sans"/>
              </a:rPr>
              <a:t>Data Digitales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s-ES" sz="1600" spc="-1" strike="noStrike">
                <a:solidFill>
                  <a:srgbClr val="ff7f00"/>
                </a:solidFill>
                <a:latin typeface="Calibri"/>
                <a:ea typeface="DejaVu Sans"/>
              </a:rPr>
              <a:t>459,336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74320" y="3474720"/>
            <a:ext cx="2741400" cy="3275640"/>
          </a:xfrm>
          <a:prstGeom prst="rect">
            <a:avLst/>
          </a:prstGeom>
          <a:noFill/>
          <a:ln w="9360">
            <a:solidFill>
              <a:srgbClr val="756bb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" name="TextBox 36"/>
          <p:cNvSpPr/>
          <p:nvPr/>
        </p:nvSpPr>
        <p:spPr>
          <a:xfrm>
            <a:off x="254520" y="3403080"/>
            <a:ext cx="17704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ES" sz="1600" spc="-1" strike="noStrike">
                <a:solidFill>
                  <a:srgbClr val="756bb1"/>
                </a:solidFill>
                <a:latin typeface="Calibri"/>
                <a:ea typeface="DejaVu Sans"/>
              </a:rPr>
              <a:t>Inactivos Volatil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s-ES" sz="1600" spc="-1" strike="noStrike">
                <a:solidFill>
                  <a:srgbClr val="756bb1"/>
                </a:solidFill>
                <a:latin typeface="Calibri"/>
                <a:ea typeface="DejaVu Sans"/>
              </a:rPr>
              <a:t>602,856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3200400" y="3474720"/>
            <a:ext cx="2741400" cy="3263760"/>
          </a:xfrm>
          <a:prstGeom prst="rect">
            <a:avLst/>
          </a:prstGeom>
          <a:noFill/>
          <a:ln w="9360">
            <a:solidFill>
              <a:srgbClr val="e41a1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" name="TextBox 37"/>
          <p:cNvSpPr/>
          <p:nvPr/>
        </p:nvSpPr>
        <p:spPr>
          <a:xfrm>
            <a:off x="3164040" y="3403080"/>
            <a:ext cx="21834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ES" sz="1600" spc="-1" strike="noStrike">
                <a:solidFill>
                  <a:srgbClr val="e41a1c"/>
                </a:solidFill>
                <a:latin typeface="Calibri"/>
                <a:ea typeface="DejaVu Sans"/>
              </a:rPr>
              <a:t>Voz Data Tradicional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s-ES" sz="1600" spc="-1" strike="noStrike">
                <a:solidFill>
                  <a:srgbClr val="e41a1c"/>
                </a:solidFill>
                <a:latin typeface="Calibri"/>
                <a:ea typeface="DejaVu Sans"/>
              </a:rPr>
              <a:t>897,424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Rounded Rectangle 14"/>
          <p:cNvSpPr/>
          <p:nvPr/>
        </p:nvSpPr>
        <p:spPr>
          <a:xfrm>
            <a:off x="6126480" y="3474720"/>
            <a:ext cx="2741400" cy="3257640"/>
          </a:xfrm>
          <a:prstGeom prst="rect">
            <a:avLst/>
          </a:prstGeom>
          <a:noFill/>
          <a:ln w="9360">
            <a:solidFill>
              <a:srgbClr val="17bec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" name="TextBox 38"/>
          <p:cNvSpPr/>
          <p:nvPr/>
        </p:nvSpPr>
        <p:spPr>
          <a:xfrm>
            <a:off x="6091560" y="3382920"/>
            <a:ext cx="21726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ES" sz="1600" spc="-1" strike="noStrike">
                <a:solidFill>
                  <a:srgbClr val="17becf"/>
                </a:solidFill>
                <a:latin typeface="Calibri"/>
                <a:ea typeface="DejaVu Sans"/>
              </a:rPr>
              <a:t>Core Emergentes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s-ES" sz="1600" spc="-1" strike="noStrike">
                <a:solidFill>
                  <a:srgbClr val="17becf"/>
                </a:solidFill>
                <a:latin typeface="Calibri"/>
                <a:ea typeface="DejaVu Sans"/>
              </a:rPr>
              <a:t>202,574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Box 39"/>
          <p:cNvSpPr/>
          <p:nvPr/>
        </p:nvSpPr>
        <p:spPr>
          <a:xfrm>
            <a:off x="3584160" y="554760"/>
            <a:ext cx="208296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ARPU mes 3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356.36 L.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Recargas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8.18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Paquetes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6.99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Datos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12,918.21 MB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Proporción de Voz a Datos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12.34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Puntuación de Crecimiento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0.05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Dias desde la ultima actividad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0.48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Modelo Churn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6%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Llamadas min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280.96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Microsoft YaHei"/>
              </a:rPr>
              <a:t>Modelo Up-sell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15% (919,085)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Agng Dys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62.04 meses;  5 años y 1 mes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Box 40"/>
          <p:cNvSpPr/>
          <p:nvPr/>
        </p:nvSpPr>
        <p:spPr>
          <a:xfrm>
            <a:off x="6528600" y="541440"/>
            <a:ext cx="224712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ARPU mes 3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470.42 L.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Recargas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7.33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Paquetes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5.88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Datos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33,394.71 MB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Proporción de Voz a Datos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0.06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Puntuación de Crecimiento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0.04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Dias desde la ultima actividad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0.27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Modelo Churn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5%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Llamadas min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547.05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Microsoft YaHei"/>
              </a:rPr>
              <a:t>Modelo Up-sell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13% (441,318)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Agng Dys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35.70 meses; 2 años y 12 meses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41"/>
          <p:cNvSpPr/>
          <p:nvPr/>
        </p:nvSpPr>
        <p:spPr>
          <a:xfrm>
            <a:off x="675360" y="3927960"/>
            <a:ext cx="216864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ARPU mes 3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0.28 L.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Recargas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0.89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Paquetes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1.29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Datos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133.16 MB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Proporción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de Voz a Datos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16.87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Puntuación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de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Crecimiento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0.13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Dias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desde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la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ultima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actividad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39.86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Modelo Churn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86%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Llamadas min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28.6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Microsoft YaHei"/>
              </a:rPr>
              <a:t>Modelo Up-sell 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5% (12,611)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Agng Dys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40.99 meses; 3 años y 5 meses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42"/>
          <p:cNvSpPr/>
          <p:nvPr/>
        </p:nvSpPr>
        <p:spPr>
          <a:xfrm>
            <a:off x="3663360" y="3980160"/>
            <a:ext cx="218520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ARPU mes 3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109.22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L.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Recargas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17.88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Paquetes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15.26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Datos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2,222.30 MB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Proporción de Voz a Datos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31.50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Puntuación de Crecimiento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0.12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Dias desde la ultima actividad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2.18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Modelo Churn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23%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Llamadas min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97.73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Microsoft YaHei"/>
              </a:rPr>
              <a:t>Modelo Up-sell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12% (703,653)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Agng Dys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60.99 mese; 5 años y 2 meses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Box 43"/>
          <p:cNvSpPr/>
          <p:nvPr/>
        </p:nvSpPr>
        <p:spPr>
          <a:xfrm>
            <a:off x="6629400" y="3894480"/>
            <a:ext cx="210708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ARPU mes 3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89.04 L.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Recargas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22.59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Paquetes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18.91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Datos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1,194.75 mb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Proporción de Voz a Datos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13.11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Puntuación de Crecimiento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-0.09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Dias desde la ultima actividad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3.14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Modelo Churn –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53%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Llamadas min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67.84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Microsoft YaHei"/>
              </a:rPr>
              <a:t>Modelo Up-sell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11% (716)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Agng Dys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44.04 mese; 3 años y 7 meses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374040" y="2743200"/>
            <a:ext cx="2563920" cy="51048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25" name="" descr=""/>
          <p:cNvPicPr/>
          <p:nvPr/>
        </p:nvPicPr>
        <p:blipFill>
          <a:blip r:embed="rId2"/>
          <a:stretch/>
        </p:blipFill>
        <p:spPr>
          <a:xfrm>
            <a:off x="3306600" y="2727720"/>
            <a:ext cx="2509560" cy="52056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26" name="" descr=""/>
          <p:cNvPicPr/>
          <p:nvPr/>
        </p:nvPicPr>
        <p:blipFill>
          <a:blip r:embed="rId3"/>
          <a:stretch/>
        </p:blipFill>
        <p:spPr>
          <a:xfrm>
            <a:off x="326880" y="2202840"/>
            <a:ext cx="1604520" cy="49716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27" name="" descr=""/>
          <p:cNvPicPr/>
          <p:nvPr/>
        </p:nvPicPr>
        <p:blipFill>
          <a:blip r:embed="rId4"/>
          <a:stretch/>
        </p:blipFill>
        <p:spPr>
          <a:xfrm>
            <a:off x="1988280" y="2203560"/>
            <a:ext cx="961200" cy="41544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28" name="" descr=""/>
          <p:cNvPicPr/>
          <p:nvPr/>
        </p:nvPicPr>
        <p:blipFill>
          <a:blip r:embed="rId5"/>
          <a:stretch/>
        </p:blipFill>
        <p:spPr>
          <a:xfrm>
            <a:off x="4957920" y="2167920"/>
            <a:ext cx="942840" cy="41580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29" name="" descr=""/>
          <p:cNvPicPr/>
          <p:nvPr/>
        </p:nvPicPr>
        <p:blipFill>
          <a:blip r:embed="rId6"/>
          <a:stretch/>
        </p:blipFill>
        <p:spPr>
          <a:xfrm>
            <a:off x="3242880" y="2174760"/>
            <a:ext cx="1659960" cy="51624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0" name="" descr=""/>
          <p:cNvPicPr/>
          <p:nvPr/>
        </p:nvPicPr>
        <p:blipFill>
          <a:blip r:embed="rId7"/>
          <a:stretch/>
        </p:blipFill>
        <p:spPr>
          <a:xfrm>
            <a:off x="6204960" y="2725560"/>
            <a:ext cx="2611800" cy="52920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1" name="" descr=""/>
          <p:cNvPicPr/>
          <p:nvPr/>
        </p:nvPicPr>
        <p:blipFill>
          <a:blip r:embed="rId8"/>
          <a:stretch/>
        </p:blipFill>
        <p:spPr>
          <a:xfrm>
            <a:off x="6175440" y="2173680"/>
            <a:ext cx="1641240" cy="51048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2" name="" descr=""/>
          <p:cNvPicPr/>
          <p:nvPr/>
        </p:nvPicPr>
        <p:blipFill>
          <a:blip r:embed="rId9"/>
          <a:stretch/>
        </p:blipFill>
        <p:spPr>
          <a:xfrm>
            <a:off x="7858440" y="2187360"/>
            <a:ext cx="942840" cy="41004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3" name="" descr=""/>
          <p:cNvPicPr/>
          <p:nvPr/>
        </p:nvPicPr>
        <p:blipFill>
          <a:blip r:embed="rId10"/>
          <a:stretch/>
        </p:blipFill>
        <p:spPr>
          <a:xfrm>
            <a:off x="353880" y="6164640"/>
            <a:ext cx="2577960" cy="54288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4" name="" descr=""/>
          <p:cNvPicPr/>
          <p:nvPr/>
        </p:nvPicPr>
        <p:blipFill>
          <a:blip r:embed="rId11"/>
          <a:stretch/>
        </p:blipFill>
        <p:spPr>
          <a:xfrm>
            <a:off x="308520" y="5616720"/>
            <a:ext cx="1659960" cy="51444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5" name="" descr=""/>
          <p:cNvPicPr/>
          <p:nvPr/>
        </p:nvPicPr>
        <p:blipFill>
          <a:blip r:embed="rId12"/>
          <a:stretch/>
        </p:blipFill>
        <p:spPr>
          <a:xfrm>
            <a:off x="2006280" y="5622480"/>
            <a:ext cx="969480" cy="41904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6" name="" descr=""/>
          <p:cNvPicPr/>
          <p:nvPr/>
        </p:nvPicPr>
        <p:blipFill>
          <a:blip r:embed="rId13"/>
          <a:stretch/>
        </p:blipFill>
        <p:spPr>
          <a:xfrm>
            <a:off x="3279240" y="6144120"/>
            <a:ext cx="2577960" cy="56196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7" name="" descr=""/>
          <p:cNvPicPr/>
          <p:nvPr/>
        </p:nvPicPr>
        <p:blipFill>
          <a:blip r:embed="rId14"/>
          <a:stretch/>
        </p:blipFill>
        <p:spPr>
          <a:xfrm>
            <a:off x="3247920" y="5609880"/>
            <a:ext cx="1622880" cy="50112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8" name="" descr=""/>
          <p:cNvPicPr/>
          <p:nvPr/>
        </p:nvPicPr>
        <p:blipFill>
          <a:blip r:embed="rId15"/>
          <a:stretch/>
        </p:blipFill>
        <p:spPr>
          <a:xfrm>
            <a:off x="4910760" y="5609880"/>
            <a:ext cx="976680" cy="41904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9" name="" descr=""/>
          <p:cNvPicPr/>
          <p:nvPr/>
        </p:nvPicPr>
        <p:blipFill>
          <a:blip r:embed="rId16"/>
          <a:stretch/>
        </p:blipFill>
        <p:spPr>
          <a:xfrm>
            <a:off x="6238800" y="6138720"/>
            <a:ext cx="2550960" cy="56196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40" name="" descr=""/>
          <p:cNvPicPr/>
          <p:nvPr/>
        </p:nvPicPr>
        <p:blipFill>
          <a:blip r:embed="rId17"/>
          <a:stretch/>
        </p:blipFill>
        <p:spPr>
          <a:xfrm>
            <a:off x="6180480" y="5566320"/>
            <a:ext cx="1608840" cy="48924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41" name="" descr=""/>
          <p:cNvPicPr/>
          <p:nvPr/>
        </p:nvPicPr>
        <p:blipFill>
          <a:blip r:embed="rId18"/>
          <a:stretch/>
        </p:blipFill>
        <p:spPr>
          <a:xfrm>
            <a:off x="7844400" y="5568120"/>
            <a:ext cx="975600" cy="41904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42" name="" descr=""/>
          <p:cNvPicPr/>
          <p:nvPr/>
        </p:nvPicPr>
        <p:blipFill>
          <a:blip r:embed="rId19"/>
          <a:stretch/>
        </p:blipFill>
        <p:spPr>
          <a:xfrm rot="16190400">
            <a:off x="-2346120" y="3465720"/>
            <a:ext cx="4908600" cy="278280"/>
          </a:xfrm>
          <a:prstGeom prst="rect">
            <a:avLst/>
          </a:prstGeom>
          <a:ln w="0">
            <a:noFill/>
          </a:ln>
        </p:spPr>
      </p:pic>
      <p:sp>
        <p:nvSpPr>
          <p:cNvPr id="43" name="TextBox 5"/>
          <p:cNvSpPr/>
          <p:nvPr/>
        </p:nvSpPr>
        <p:spPr>
          <a:xfrm>
            <a:off x="259920" y="1947600"/>
            <a:ext cx="27558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Joven Adulto: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22.95%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Adulto Estable: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44.33%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Box 6"/>
          <p:cNvSpPr/>
          <p:nvPr/>
        </p:nvSpPr>
        <p:spPr>
          <a:xfrm>
            <a:off x="259920" y="2026800"/>
            <a:ext cx="27558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Tercera Edad: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20.45%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Cuarta Edad: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1.46%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Box 7"/>
          <p:cNvSpPr/>
          <p:nvPr/>
        </p:nvSpPr>
        <p:spPr>
          <a:xfrm>
            <a:off x="3242880" y="1893240"/>
            <a:ext cx="27558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Joven Adulto: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23.22%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Adulto Estable: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46.30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8"/>
          <p:cNvSpPr/>
          <p:nvPr/>
        </p:nvSpPr>
        <p:spPr>
          <a:xfrm>
            <a:off x="329400" y="5251320"/>
            <a:ext cx="2644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Joven Adulto: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22.64%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Adulto Estable: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44.38%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9"/>
          <p:cNvSpPr/>
          <p:nvPr/>
        </p:nvSpPr>
        <p:spPr>
          <a:xfrm>
            <a:off x="3242880" y="1994040"/>
            <a:ext cx="27558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Tercera Edad: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18.48%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Cuarta Edad: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1.05%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Box 10"/>
          <p:cNvSpPr/>
          <p:nvPr/>
        </p:nvSpPr>
        <p:spPr>
          <a:xfrm>
            <a:off x="6247080" y="1880280"/>
            <a:ext cx="27558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Joven Adulto: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29.77%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Adulto Estable: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42.05%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Box 11"/>
          <p:cNvSpPr/>
          <p:nvPr/>
        </p:nvSpPr>
        <p:spPr>
          <a:xfrm>
            <a:off x="6247080" y="1962360"/>
            <a:ext cx="27558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Tercera Edad: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13.56%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Cuarta Edad: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0.87%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Box 1"/>
          <p:cNvSpPr/>
          <p:nvPr/>
        </p:nvSpPr>
        <p:spPr>
          <a:xfrm>
            <a:off x="329400" y="5365440"/>
            <a:ext cx="2644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Tercera Edad: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20.12%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Cuarta Edad: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1.63%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3297600" y="5313960"/>
            <a:ext cx="2644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Joven Adulto: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19.95%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Adulto Estable: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44.24%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3297600" y="5398560"/>
            <a:ext cx="2644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Tercera Edad: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24.57%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Cuarta Edad: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1.78%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6324840" y="5355000"/>
            <a:ext cx="2644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Tercera Edad: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19.50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  Cuarta Edad: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1.34%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12"/>
          <p:cNvSpPr/>
          <p:nvPr/>
        </p:nvSpPr>
        <p:spPr>
          <a:xfrm>
            <a:off x="6324840" y="5262120"/>
            <a:ext cx="2644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Joven Adulto: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23.27%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Adulto Estable: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44.75%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2160</TotalTime>
  <Application>LibreOffice/24.2.2.2$Windows_X86_64 LibreOffice_project/d56cc158d8a96260b836f100ef4b4ef25d6f1a01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2026-03-05T11:20:47Z</dcterms:modified>
  <cp:revision>13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Presentación en pantalla (4:3)</vt:lpwstr>
  </property>
  <property fmtid="{D5CDD505-2E9C-101B-9397-08002B2CF9AE}" pid="3" name="Slides">
    <vt:r8>1</vt:r8>
  </property>
</Properties>
</file>